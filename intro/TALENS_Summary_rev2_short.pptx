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 snapToObjects="1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960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49279-C82C-A93F-C569-EEC01747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68298D-1440-1B57-A0B3-176F4AEEC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5EBC9-1769-7F6E-50BB-7721F2108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A7409-B9AD-80C6-E392-4CDA93E3D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99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128016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</a:t>
            </a:r>
            <a:b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Resources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Platform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3948914"/>
            <a:ext cx="5486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404492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every scenario, conducts every assessment, writes every report.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63928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templates.   No manual effort.   No limits.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Summary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82FD45-E972-35A7-83E0-CFAD611BE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132" y="504704"/>
            <a:ext cx="3254373" cy="7754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 assessment hasn't kept up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0352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scale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743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assessor hours for a single hiring round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30352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inconsistent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3886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Inter-rater variability, fatigue, and implicit bias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530352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663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generic content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5029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Pre-written scenarios designed for broad applicability.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TALENS solution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2240280"/>
            <a:ext cx="5394960" cy="35204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27000" dist="38100" dir="5400000" algn="bl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37960" y="2468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AI-native, end to end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537960" y="30175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pipeline — configuration, content, assessment, evaluation — is driven by AI. No pre-written human content required.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537960" y="4023360"/>
            <a:ext cx="2331720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675120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defines WHAT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675120" y="4434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role, seniority, and target competencies.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006840" y="4023360"/>
            <a:ext cx="2514600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14400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handles HOW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144000" y="44348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scenarios, runs adaptive assessments, produces evidence-based reports.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309360" y="5897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AI bolted onto traditional assessment — assessment reimagined from the ground up.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TALENS  ·  AI-Native Assessment Platform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F2FAB83-15A9-4446-A83E-37BCA0A0EBC9}" type="slidenum">
              <a:rPr lang="en-US" sz="90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fld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four-phase, fully automated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00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31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guides campaign setup — suggests modules, validates coherence, ensures coverage.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72968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83280" y="1920240"/>
            <a:ext cx="2606040" cy="3200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57600" y="2240280"/>
            <a:ext cx="50292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3317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5760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657600" y="36576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Scenarios, characters, and dossiers generated in real time, tailored to sector, role, and seniority.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007608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217920" y="1920240"/>
            <a:ext cx="2606040" cy="3200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492240" y="2240280"/>
            <a:ext cx="50292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3317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224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49224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492240" y="36576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conducts adaptive assessments — probing, injecting complications, adjusting pressure in real time.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842248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052560" y="1920240"/>
            <a:ext cx="2606040" cy="3200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9326880" y="2240280"/>
            <a:ext cx="50292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233172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26880" y="2880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32688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9326880" y="36576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reports with per-competency ratings, narrative assessments, evidence quotes, and recommendations.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548640" y="548640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777240" y="5486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involvement: ~15 minutes on Day 1. Everything else is fully automated.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TALENS  ·  AI-Native Assessment Platform</a:t>
            </a:r>
            <a:endParaRPr lang="en-US" sz="9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03D1203B-9609-6084-D180-08D45417411B}"/>
              </a:ext>
            </a:extLst>
          </p:cNvPr>
          <p:cNvSpPr/>
          <p:nvPr/>
        </p:nvSpPr>
        <p:spPr>
          <a:xfrm>
            <a:off x="1110996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F2FAB83-15A9-4446-A83E-37BCA0A0EBC9}" type="slidenum">
              <a:rPr lang="en-US" sz="90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fld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cap="all" spc="400" dirty="0">
                <a:solidFill>
                  <a:srgbClr val="2563EB"/>
                </a:solidFill>
                <a:latin typeface="Calibri" pitchFamily="34" charset="0"/>
                <a:cs typeface="Calibri" pitchFamily="34" charset="-120"/>
              </a:rPr>
              <a:t>18 competencies across 9 modules</a:t>
            </a:r>
            <a:endParaRPr lang="en-US" sz="1200" cap="all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measures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Competency model — 3 pillars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66928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3500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Reasoning · Strategic Thinking · Decision Quality · Systems Thinking · Critical Analysis · Learning Agility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66928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4930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8221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Interpersonal Communication · Collaborative Teamwork · Conflict Resolution · Stakeholder Management · Emotional Intelligence · Influence &amp; Persuasion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566928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6360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9651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Organizing · Priority Management · Accountability · Proactive Initiative · Cognitive Flexibility · Resilience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17830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modules across 3 modes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46520" y="2240280"/>
            <a:ext cx="525780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3680" y="2487168"/>
            <a:ext cx="50292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578608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178040" y="23500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178040" y="2651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with AI characters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178040" y="2898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Interview · Problem Dialogue · Role Play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46520" y="3383280"/>
            <a:ext cx="525780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583680" y="3630168"/>
            <a:ext cx="50292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721608"/>
            <a:ext cx="320040" cy="3200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178040" y="34930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Messaging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7178040" y="3794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 text chat under pressure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7178040" y="4041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Dynamics · Priority Triage · Operational Coordination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446520" y="4526280"/>
            <a:ext cx="525780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583680" y="4773168"/>
            <a:ext cx="50292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864608"/>
            <a:ext cx="320040" cy="32004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178040" y="46360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7178040" y="4937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multi-phase written tasks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7178040" y="5184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Canvas · Critical Analysis · Systems Thinking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77724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 cross-module competency matrix — measure the same competency across multiple interaction modes.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TALENS  ·  AI-Native Assessment Platform</a:t>
            </a:r>
            <a:endParaRPr lang="en-US" sz="900" dirty="0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9C7862DF-C74A-3277-26ED-CBE9E3CA6905}"/>
              </a:ext>
            </a:extLst>
          </p:cNvPr>
          <p:cNvSpPr/>
          <p:nvPr/>
        </p:nvSpPr>
        <p:spPr>
          <a:xfrm>
            <a:off x="11064240" y="64423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F2FAB83-15A9-4446-A83E-37BCA0A0EBC9}" type="slidenum">
              <a:rPr lang="en-US" sz="90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fld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IT APART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Unique, adaptive, evidence-based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Unique, contextual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Senior PM in fintech and one in healthcare get different scenarios — same competency, different manifestation.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023360" y="1828800"/>
            <a:ext cx="329184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51960" y="2057400"/>
            <a:ext cx="50292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1488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adaptation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251960" y="26060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Vague answer? Probes deeper. Exceptional depth? Escalates complexity. As deep as the candidate allows.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329184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233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04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Evidence-based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7240" y="44805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rating anchored to direct evidence: specific quotes, contextual framing — auditable and defensible.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023360" y="3703320"/>
            <a:ext cx="329184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251960" y="3931920"/>
            <a:ext cx="502920" cy="502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0233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92040" y="3904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Seniority calibration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251960" y="448056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'Competent' for a Junior vs. an Executive are different standards — calibrated automatically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498080" y="1828800"/>
            <a:ext cx="4206240" cy="3566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27000" dist="38100" dir="5400000" algn="bl" rotWithShape="0">
              <a:srgbClr val="0F172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768096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produces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7680960" y="2331720"/>
            <a:ext cx="5486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7680960" y="2514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9552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</a:t>
            </a: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1.0–5.0, calibrated to seniority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680960" y="28986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95528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standalone paragraph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680960" y="328269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955280" y="32826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Per-competency</a:t>
            </a: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rating, narrative, evidence quotes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7680960" y="366674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955280" y="3666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patterns</a:t>
            </a: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spanning multiple competencies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680960" y="40507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955280" y="4050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proceed / with conditions / no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7680960" y="4434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795528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transcript</a:t>
            </a: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complete session for review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548640" y="5715000"/>
            <a:ext cx="7315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77724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cross-module competency matrix for multi-exercise comparison.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TALENS  ·  AI-Native Assessment Platform</a:t>
            </a:r>
            <a:endParaRPr lang="en-US" sz="900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F3E01A54-F2BD-0317-C98C-AD7FC4EFCA40}"/>
              </a:ext>
            </a:extLst>
          </p:cNvPr>
          <p:cNvSpPr/>
          <p:nvPr/>
        </p:nvSpPr>
        <p:spPr>
          <a:xfrm>
            <a:off x="1110996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F2FAB83-15A9-4446-A83E-37BCA0A0EBC9}" type="slidenum">
              <a:rPr lang="en-US" sz="90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fld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DBC9F-4182-F182-4FC2-36CBA491F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57C722-DC88-5926-CEA6-9EF1D270D044}"/>
              </a:ext>
            </a:extLst>
          </p:cNvPr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cap="all" spc="400" dirty="0">
                <a:solidFill>
                  <a:srgbClr val="2563EB"/>
                </a:solidFill>
                <a:latin typeface="Calibri" pitchFamily="34" charset="0"/>
                <a:cs typeface="Calibri" pitchFamily="34" charset="-120"/>
              </a:rPr>
              <a:t>How to work with TALENS</a:t>
            </a:r>
            <a:endParaRPr lang="en-US" sz="1200" cap="all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13003A-7773-4F2B-591C-522BECE8001D}"/>
              </a:ext>
            </a:extLst>
          </p:cNvPr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TALENS business model</a:t>
            </a:r>
            <a:endParaRPr lang="en-US" sz="3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6F5F13-75E0-B1B9-04AE-9A7120680A77}"/>
              </a:ext>
            </a:extLst>
          </p:cNvPr>
          <p:cNvSpPr/>
          <p:nvPr/>
        </p:nvSpPr>
        <p:spPr>
          <a:xfrm>
            <a:off x="54864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Flexible solutions for client companies 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F13D1C8-C5B1-0D8B-C116-BB648F8CEF80}"/>
              </a:ext>
            </a:extLst>
          </p:cNvPr>
          <p:cNvSpPr/>
          <p:nvPr/>
        </p:nvSpPr>
        <p:spPr>
          <a:xfrm>
            <a:off x="548640" y="2240280"/>
            <a:ext cx="10268296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7986935-3D9A-25EA-EF56-652A467325E3}"/>
              </a:ext>
            </a:extLst>
          </p:cNvPr>
          <p:cNvSpPr/>
          <p:nvPr/>
        </p:nvSpPr>
        <p:spPr>
          <a:xfrm>
            <a:off x="548640" y="224028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3A56E4-BDB4-ABFF-E27B-DB8F84B28688}"/>
              </a:ext>
            </a:extLst>
          </p:cNvPr>
          <p:cNvSpPr/>
          <p:nvPr/>
        </p:nvSpPr>
        <p:spPr>
          <a:xfrm>
            <a:off x="777240" y="23500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hosting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E6F29F3-D083-7F5D-BC46-EE91B588E6EB}"/>
              </a:ext>
            </a:extLst>
          </p:cNvPr>
          <p:cNvSpPr/>
          <p:nvPr/>
        </p:nvSpPr>
        <p:spPr>
          <a:xfrm>
            <a:off x="777240" y="2679192"/>
            <a:ext cx="99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/>
              <a:t>Nexent</a:t>
            </a:r>
            <a:r>
              <a:rPr lang="en-US" sz="1400" dirty="0"/>
              <a:t> hosts the licenses for the client company; all external costs included; typically on a candidate or individual test basis.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850D954-850B-C719-F9A9-E6AEA52CFA3A}"/>
              </a:ext>
            </a:extLst>
          </p:cNvPr>
          <p:cNvSpPr/>
          <p:nvPr/>
        </p:nvSpPr>
        <p:spPr>
          <a:xfrm>
            <a:off x="548640" y="3383280"/>
            <a:ext cx="10268296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B952E94-CC67-F512-2D66-DDB8634DA6D7}"/>
              </a:ext>
            </a:extLst>
          </p:cNvPr>
          <p:cNvSpPr/>
          <p:nvPr/>
        </p:nvSpPr>
        <p:spPr>
          <a:xfrm>
            <a:off x="548640" y="338328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F45B3F2-6C51-1937-0F2C-788BECA51990}"/>
              </a:ext>
            </a:extLst>
          </p:cNvPr>
          <p:cNvSpPr/>
          <p:nvPr/>
        </p:nvSpPr>
        <p:spPr>
          <a:xfrm>
            <a:off x="777240" y="34930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Georgia" pitchFamily="34" charset="0"/>
              </a:rPr>
              <a:t>White label licensing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68174D6-7062-EEAC-6ED5-D4050622678E}"/>
              </a:ext>
            </a:extLst>
          </p:cNvPr>
          <p:cNvSpPr/>
          <p:nvPr/>
        </p:nvSpPr>
        <p:spPr>
          <a:xfrm>
            <a:off x="777240" y="3822192"/>
            <a:ext cx="99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 installed on client’s cloud, with private brand or co-branded labeling.  License terms flexible</a:t>
            </a: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397583F-069E-0802-A4CF-68F3C1A62CCE}"/>
              </a:ext>
            </a:extLst>
          </p:cNvPr>
          <p:cNvSpPr/>
          <p:nvPr/>
        </p:nvSpPr>
        <p:spPr>
          <a:xfrm>
            <a:off x="585216" y="4453128"/>
            <a:ext cx="1019930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F172A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AE7709B-0465-1C3D-A563-8EB65EB2DAF8}"/>
              </a:ext>
            </a:extLst>
          </p:cNvPr>
          <p:cNvSpPr/>
          <p:nvPr/>
        </p:nvSpPr>
        <p:spPr>
          <a:xfrm>
            <a:off x="548640" y="452628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1FA645D-C988-310D-00EA-0C25AE13DDE8}"/>
              </a:ext>
            </a:extLst>
          </p:cNvPr>
          <p:cNvSpPr/>
          <p:nvPr/>
        </p:nvSpPr>
        <p:spPr>
          <a:xfrm>
            <a:off x="777240" y="46360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ATS Integrations and other customizations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0F5DD1C-66A3-72D8-67F4-0E86534F9C04}"/>
              </a:ext>
            </a:extLst>
          </p:cNvPr>
          <p:cNvSpPr/>
          <p:nvPr/>
        </p:nvSpPr>
        <p:spPr>
          <a:xfrm>
            <a:off x="777240" y="4965192"/>
            <a:ext cx="99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integrations with ATS for both above models.  Other customization of platform and modules possible.</a:t>
            </a:r>
            <a:endParaRPr lang="en-US" sz="1400" dirty="0"/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A7873A99-26ED-FC05-7306-DB8410FA69A5}"/>
              </a:ext>
            </a:extLst>
          </p:cNvPr>
          <p:cNvSpPr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26CDE5A6-554A-B311-CA6B-A5F15AC77B2E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TALENS  ·  AI-Native Assessment Platform</a:t>
            </a:r>
            <a:endParaRPr lang="en-US" sz="900" dirty="0"/>
          </a:p>
        </p:txBody>
      </p:sp>
      <p:sp>
        <p:nvSpPr>
          <p:cNvPr id="18" name="Text 27">
            <a:extLst>
              <a:ext uri="{FF2B5EF4-FFF2-40B4-BE49-F238E27FC236}">
                <a16:creationId xmlns:a16="http://schemas.microsoft.com/office/drawing/2014/main" id="{5A5DA49C-AA2D-D3CB-E1AF-1960EF748D05}"/>
              </a:ext>
            </a:extLst>
          </p:cNvPr>
          <p:cNvSpPr/>
          <p:nvPr/>
        </p:nvSpPr>
        <p:spPr>
          <a:xfrm>
            <a:off x="10911840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F2FAB83-15A9-4446-A83E-37BCA0A0EBC9}" type="slidenum">
              <a:rPr lang="en-US" sz="90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fld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47370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650</Words>
  <Application>Microsoft Office PowerPoint</Application>
  <PresentationFormat>Widescreen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TALENS Overview</dc:title>
  <dc:subject>Presentation</dc:subject>
  <dc:creator>TALENS</dc:creator>
  <cp:keywords/>
  <dc:description/>
  <cp:lastModifiedBy>Yari D'areglia</cp:lastModifiedBy>
  <cp:revision>9</cp:revision>
  <dcterms:created xsi:type="dcterms:W3CDTF">2026-05-25T14:42:51Z</dcterms:created>
  <dcterms:modified xsi:type="dcterms:W3CDTF">2026-07-07T12:53:21Z</dcterms:modified>
  <cp:category/>
</cp:coreProperties>
</file>