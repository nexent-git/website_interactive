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4"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6301"/>
  </p:normalViewPr>
  <p:slideViewPr>
    <p:cSldViewPr snapToGrid="0" snapToObjects="1">
      <p:cViewPr varScale="1">
        <p:scale>
          <a:sx n="123" d="100"/>
          <a:sy n="123" d="100"/>
        </p:scale>
        <p:origin x="6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5960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E0292-C39F-7B85-2EF2-8FE36E459B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1DF771-5705-5523-8A42-03D6E5A278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008534-9E72-528F-9116-C3A3389686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EAC680-833F-D8D3-6EF8-4F57B05F66E0}"/>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2883364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49279-C82C-A93F-C569-EEC01747D9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68298D-1440-1B57-A0B3-176F4AEECE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85EBC9-1769-7F6E-50BB-7721F2108D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AA7409-B9AD-80C6-E392-4CDA93E3D847}"/>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42834991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4" name="Text 2"/>
          <p:cNvSpPr/>
          <p:nvPr/>
        </p:nvSpPr>
        <p:spPr>
          <a:xfrm>
            <a:off x="731520" y="1280160"/>
            <a:ext cx="10058400" cy="2377440"/>
          </a:xfrm>
          <a:prstGeom prst="rect">
            <a:avLst/>
          </a:prstGeom>
          <a:noFill/>
          <a:ln/>
        </p:spPr>
        <p:txBody>
          <a:bodyPr wrap="square" lIns="0" tIns="0" rIns="0" bIns="0" rtlCol="0" anchor="ctr"/>
          <a:lstStyle/>
          <a:p>
            <a:pPr marL="0" indent="0">
              <a:buNone/>
            </a:pPr>
            <a:r>
              <a:rPr lang="en-US" sz="4800" b="1" dirty="0">
                <a:solidFill>
                  <a:srgbClr val="FFFFFF"/>
                </a:solidFill>
                <a:latin typeface="Georgia" pitchFamily="34" charset="0"/>
                <a:ea typeface="Georgia" pitchFamily="34" charset="-122"/>
                <a:cs typeface="Georgia" pitchFamily="34" charset="-120"/>
              </a:rPr>
              <a:t>AI-Native</a:t>
            </a:r>
            <a:br>
              <a:rPr lang="en-US" sz="4800" b="1" dirty="0">
                <a:solidFill>
                  <a:srgbClr val="FFFFFF"/>
                </a:solidFill>
                <a:latin typeface="Georgia" pitchFamily="34" charset="0"/>
                <a:ea typeface="Georgia" pitchFamily="34" charset="-122"/>
                <a:cs typeface="Georgia" pitchFamily="34" charset="-120"/>
              </a:rPr>
            </a:br>
            <a:r>
              <a:rPr lang="en-US" sz="4800" b="1" dirty="0">
                <a:solidFill>
                  <a:srgbClr val="FFFFFF"/>
                </a:solidFill>
                <a:latin typeface="Georgia" pitchFamily="34" charset="0"/>
                <a:ea typeface="Georgia" pitchFamily="34" charset="-122"/>
                <a:cs typeface="Georgia" pitchFamily="34" charset="-120"/>
              </a:rPr>
              <a:t>Human Resources</a:t>
            </a:r>
            <a:endParaRPr lang="en-US" sz="4800" dirty="0"/>
          </a:p>
          <a:p>
            <a:pPr marL="0" indent="0">
              <a:buNone/>
            </a:pPr>
            <a:r>
              <a:rPr lang="en-US" sz="4800" b="1" dirty="0">
                <a:solidFill>
                  <a:srgbClr val="FFFFFF"/>
                </a:solidFill>
                <a:latin typeface="Georgia" pitchFamily="34" charset="0"/>
                <a:ea typeface="Georgia" pitchFamily="34" charset="-122"/>
                <a:cs typeface="Georgia" pitchFamily="34" charset="-120"/>
              </a:rPr>
              <a:t>Assessment Platform</a:t>
            </a:r>
            <a:endParaRPr lang="en-US" sz="4800" dirty="0"/>
          </a:p>
        </p:txBody>
      </p:sp>
      <p:sp>
        <p:nvSpPr>
          <p:cNvPr id="5" name="Shape 3"/>
          <p:cNvSpPr/>
          <p:nvPr/>
        </p:nvSpPr>
        <p:spPr>
          <a:xfrm>
            <a:off x="731520" y="3948914"/>
            <a:ext cx="548640" cy="54864"/>
          </a:xfrm>
          <a:prstGeom prst="rect">
            <a:avLst/>
          </a:prstGeom>
          <a:solidFill>
            <a:srgbClr val="2563EB"/>
          </a:solidFill>
          <a:ln w="12700">
            <a:solidFill>
              <a:srgbClr val="2563EB"/>
            </a:solidFill>
            <a:prstDash val="solid"/>
          </a:ln>
        </p:spPr>
        <p:txBody>
          <a:bodyPr/>
          <a:lstStyle/>
          <a:p>
            <a:endParaRPr lang="en-US"/>
          </a:p>
        </p:txBody>
      </p:sp>
      <p:sp>
        <p:nvSpPr>
          <p:cNvPr id="6" name="Text 4"/>
          <p:cNvSpPr/>
          <p:nvPr/>
        </p:nvSpPr>
        <p:spPr>
          <a:xfrm>
            <a:off x="731520" y="4044926"/>
            <a:ext cx="10058400" cy="457200"/>
          </a:xfrm>
          <a:prstGeom prst="rect">
            <a:avLst/>
          </a:prstGeom>
          <a:noFill/>
          <a:ln/>
        </p:spPr>
        <p:txBody>
          <a:bodyPr wrap="square" lIns="0" tIns="0" rIns="0" bIns="0" rtlCol="0" anchor="ctr"/>
          <a:lstStyle/>
          <a:p>
            <a:pPr marL="0" indent="0">
              <a:buNone/>
            </a:pPr>
            <a:r>
              <a:rPr lang="en-US" sz="2000" dirty="0">
                <a:solidFill>
                  <a:srgbClr val="DBEAFE"/>
                </a:solidFill>
                <a:latin typeface="Calibri" pitchFamily="34" charset="0"/>
                <a:ea typeface="Calibri" pitchFamily="34" charset="-122"/>
                <a:cs typeface="Calibri" pitchFamily="34" charset="-120"/>
              </a:rPr>
              <a:t>AI generates every scenario, conducts every assessment, writes every report.</a:t>
            </a:r>
            <a:endParaRPr lang="en-US" sz="2000" dirty="0"/>
          </a:p>
        </p:txBody>
      </p:sp>
      <p:sp>
        <p:nvSpPr>
          <p:cNvPr id="7" name="Text 5"/>
          <p:cNvSpPr/>
          <p:nvPr/>
        </p:nvSpPr>
        <p:spPr>
          <a:xfrm>
            <a:off x="731520" y="4639286"/>
            <a:ext cx="10058400" cy="411480"/>
          </a:xfrm>
          <a:prstGeom prst="rect">
            <a:avLst/>
          </a:prstGeom>
          <a:noFill/>
          <a:ln/>
        </p:spPr>
        <p:txBody>
          <a:bodyPr wrap="square" lIns="0" tIns="0" rIns="0" bIns="0"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No templates.   No manual effort.   No limits.</a:t>
            </a:r>
            <a:endParaRPr lang="en-US" sz="1600" dirty="0"/>
          </a:p>
        </p:txBody>
      </p:sp>
      <p:sp>
        <p:nvSpPr>
          <p:cNvPr id="9" name="Text 6"/>
          <p:cNvSpPr/>
          <p:nvPr/>
        </p:nvSpPr>
        <p:spPr>
          <a:xfrm>
            <a:off x="731520" y="5989320"/>
            <a:ext cx="7315200" cy="320040"/>
          </a:xfrm>
          <a:prstGeom prst="rect">
            <a:avLst/>
          </a:prstGeom>
          <a:noFill/>
          <a:ln/>
        </p:spPr>
        <p:txBody>
          <a:bodyPr wrap="square" lIns="0" tIns="0" rIns="0" bIns="0" rtlCol="0" anchor="ctr"/>
          <a:lstStyle/>
          <a:p>
            <a:pPr marL="0" indent="0">
              <a:buNone/>
            </a:pPr>
            <a:r>
              <a:rPr lang="en-US" sz="1100" kern="0" spc="400" dirty="0">
                <a:solidFill>
                  <a:srgbClr val="DBEAFE"/>
                </a:solidFill>
                <a:latin typeface="Calibri" pitchFamily="34" charset="0"/>
                <a:ea typeface="Calibri" pitchFamily="34" charset="-122"/>
                <a:cs typeface="Calibri" pitchFamily="34" charset="-120"/>
              </a:rPr>
              <a:t>Overview Summary</a:t>
            </a:r>
            <a:endParaRPr lang="en-US" sz="1100" dirty="0"/>
          </a:p>
        </p:txBody>
      </p:sp>
      <p:pic>
        <p:nvPicPr>
          <p:cNvPr id="10" name="Picture 9">
            <a:extLst>
              <a:ext uri="{FF2B5EF4-FFF2-40B4-BE49-F238E27FC236}">
                <a16:creationId xmlns:a16="http://schemas.microsoft.com/office/drawing/2014/main" id="{F082FD45-E972-35A7-83E0-CFAD611BEED8}"/>
              </a:ext>
            </a:extLst>
          </p:cNvPr>
          <p:cNvPicPr>
            <a:picLocks noChangeAspect="1"/>
          </p:cNvPicPr>
          <p:nvPr/>
        </p:nvPicPr>
        <p:blipFill>
          <a:blip r:embed="rId3"/>
          <a:stretch>
            <a:fillRect/>
          </a:stretch>
        </p:blipFill>
        <p:spPr>
          <a:xfrm>
            <a:off x="8210132" y="504704"/>
            <a:ext cx="3254373" cy="77545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502920"/>
            <a:ext cx="10972800" cy="274320"/>
          </a:xfrm>
          <a:prstGeom prst="rect">
            <a:avLst/>
          </a:prstGeom>
          <a:noFill/>
          <a:ln/>
        </p:spPr>
        <p:txBody>
          <a:bodyPr wrap="square" lIns="0" tIns="0" rIns="0" bIns="0" rtlCol="0" anchor="ctr"/>
          <a:lstStyle/>
          <a:p>
            <a:pPr marL="0" indent="0">
              <a:buNone/>
            </a:pPr>
            <a:r>
              <a:rPr lang="en-US" sz="1200" b="1" kern="0" spc="400" dirty="0">
                <a:solidFill>
                  <a:srgbClr val="2563EB"/>
                </a:solidFill>
                <a:latin typeface="Calibri" pitchFamily="34" charset="0"/>
                <a:ea typeface="Calibri" pitchFamily="34" charset="-122"/>
                <a:cs typeface="Calibri" pitchFamily="34" charset="-120"/>
              </a:rPr>
              <a:t>THE GAP</a:t>
            </a:r>
            <a:endParaRPr lang="en-US" sz="1200" dirty="0"/>
          </a:p>
        </p:txBody>
      </p:sp>
      <p:sp>
        <p:nvSpPr>
          <p:cNvPr id="3" name="Text 1"/>
          <p:cNvSpPr/>
          <p:nvPr/>
        </p:nvSpPr>
        <p:spPr>
          <a:xfrm>
            <a:off x="548640" y="777240"/>
            <a:ext cx="10972800" cy="822960"/>
          </a:xfrm>
          <a:prstGeom prst="rect">
            <a:avLst/>
          </a:prstGeom>
          <a:noFill/>
          <a:ln/>
        </p:spPr>
        <p:txBody>
          <a:bodyPr wrap="square" lIns="0" tIns="0" rIns="0" bIns="0" rtlCol="0" anchor="ctr"/>
          <a:lstStyle/>
          <a:p>
            <a:pPr marL="0" indent="0">
              <a:buNone/>
            </a:pPr>
            <a:r>
              <a:rPr lang="en-US" sz="3400" b="1" dirty="0">
                <a:solidFill>
                  <a:srgbClr val="0F172A"/>
                </a:solidFill>
                <a:latin typeface="Georgia" pitchFamily="34" charset="0"/>
                <a:ea typeface="Georgia" pitchFamily="34" charset="-122"/>
                <a:cs typeface="Georgia" pitchFamily="34" charset="-120"/>
              </a:rPr>
              <a:t>Talent assessment hasn't kept up</a:t>
            </a:r>
            <a:endParaRPr lang="en-US" sz="3400" dirty="0"/>
          </a:p>
        </p:txBody>
      </p:sp>
      <p:sp>
        <p:nvSpPr>
          <p:cNvPr id="4" name="Text 2"/>
          <p:cNvSpPr/>
          <p:nvPr/>
        </p:nvSpPr>
        <p:spPr>
          <a:xfrm>
            <a:off x="548640" y="1783080"/>
            <a:ext cx="5303520" cy="365760"/>
          </a:xfrm>
          <a:prstGeom prst="rect">
            <a:avLst/>
          </a:prstGeom>
          <a:noFill/>
          <a:ln/>
        </p:spPr>
        <p:txBody>
          <a:bodyPr wrap="square" lIns="0" tIns="0" rIns="0" bIns="0" rtlCol="0" anchor="ctr"/>
          <a:lstStyle/>
          <a:p>
            <a:pPr marL="0" indent="0">
              <a:buNone/>
            </a:pPr>
            <a:r>
              <a:rPr lang="en-US" sz="1600" b="1" dirty="0">
                <a:solidFill>
                  <a:srgbClr val="0F172A"/>
                </a:solidFill>
                <a:latin typeface="Georgia" pitchFamily="34" charset="0"/>
                <a:ea typeface="Georgia" pitchFamily="34" charset="-122"/>
                <a:cs typeface="Georgia" pitchFamily="34" charset="-120"/>
              </a:rPr>
              <a:t>The problem</a:t>
            </a:r>
            <a:endParaRPr lang="en-US" sz="1600" dirty="0"/>
          </a:p>
        </p:txBody>
      </p:sp>
      <p:sp>
        <p:nvSpPr>
          <p:cNvPr id="5" name="Shape 3"/>
          <p:cNvSpPr/>
          <p:nvPr/>
        </p:nvSpPr>
        <p:spPr>
          <a:xfrm>
            <a:off x="548640" y="2240280"/>
            <a:ext cx="5303520" cy="1005840"/>
          </a:xfrm>
          <a:prstGeom prst="rect">
            <a:avLst/>
          </a:prstGeom>
          <a:solidFill>
            <a:srgbClr val="F8FAFC"/>
          </a:solidFill>
          <a:ln w="9525">
            <a:solidFill>
              <a:srgbClr val="E2E8F0"/>
            </a:solidFill>
            <a:prstDash val="solid"/>
          </a:ln>
          <a:effectLst>
            <a:outerShdw blurRad="101600" dist="25400" dir="5400000" algn="bl" rotWithShape="0">
              <a:srgbClr val="0F172A">
                <a:alpha val="6000"/>
              </a:srgbClr>
            </a:outerShdw>
          </a:effectLst>
        </p:spPr>
        <p:txBody>
          <a:bodyPr/>
          <a:lstStyle/>
          <a:p>
            <a:endParaRPr lang="en-US"/>
          </a:p>
        </p:txBody>
      </p:sp>
      <p:sp>
        <p:nvSpPr>
          <p:cNvPr id="6" name="Text 4"/>
          <p:cNvSpPr/>
          <p:nvPr/>
        </p:nvSpPr>
        <p:spPr>
          <a:xfrm>
            <a:off x="777240" y="2377440"/>
            <a:ext cx="822960" cy="365760"/>
          </a:xfrm>
          <a:prstGeom prst="rect">
            <a:avLst/>
          </a:prstGeom>
          <a:noFill/>
          <a:ln/>
        </p:spPr>
        <p:txBody>
          <a:bodyPr wrap="square" lIns="0" tIns="0" rIns="0" bIns="0" rtlCol="0" anchor="ctr"/>
          <a:lstStyle/>
          <a:p>
            <a:pPr marL="0" indent="0">
              <a:buNone/>
            </a:pPr>
            <a:r>
              <a:rPr lang="en-US" sz="2200" b="1" dirty="0">
                <a:solidFill>
                  <a:srgbClr val="2563EB"/>
                </a:solidFill>
                <a:latin typeface="Georgia" pitchFamily="34" charset="0"/>
                <a:ea typeface="Georgia" pitchFamily="34" charset="-122"/>
                <a:cs typeface="Georgia" pitchFamily="34" charset="-120"/>
              </a:rPr>
              <a:t>01</a:t>
            </a:r>
            <a:endParaRPr lang="en-US" sz="2200" dirty="0"/>
          </a:p>
        </p:txBody>
      </p:sp>
      <p:sp>
        <p:nvSpPr>
          <p:cNvPr id="7" name="Text 5"/>
          <p:cNvSpPr/>
          <p:nvPr/>
        </p:nvSpPr>
        <p:spPr>
          <a:xfrm>
            <a:off x="1554480" y="2377440"/>
            <a:ext cx="4114800" cy="36576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It doesn't scale</a:t>
            </a:r>
            <a:endParaRPr lang="en-US" sz="1500" dirty="0"/>
          </a:p>
        </p:txBody>
      </p:sp>
      <p:sp>
        <p:nvSpPr>
          <p:cNvPr id="8" name="Text 6"/>
          <p:cNvSpPr/>
          <p:nvPr/>
        </p:nvSpPr>
        <p:spPr>
          <a:xfrm>
            <a:off x="1554480" y="2743200"/>
            <a:ext cx="4114800" cy="502920"/>
          </a:xfrm>
          <a:prstGeom prst="rect">
            <a:avLst/>
          </a:prstGeom>
          <a:noFill/>
          <a:ln/>
        </p:spPr>
        <p:txBody>
          <a:bodyPr wrap="square" lIns="0" tIns="0" rIns="0" bIns="0" rtlCol="0" anchor="ctr"/>
          <a:lstStyle/>
          <a:p>
            <a:pPr marL="0" indent="0">
              <a:buNone/>
            </a:pPr>
            <a:r>
              <a:rPr lang="en-US" sz="1400" dirty="0">
                <a:latin typeface="Calibri" pitchFamily="34" charset="0"/>
                <a:ea typeface="Calibri" pitchFamily="34" charset="-122"/>
                <a:cs typeface="Calibri" pitchFamily="34" charset="-120"/>
              </a:rPr>
              <a:t>Hundreds of assessor hours for a single hiring round</a:t>
            </a:r>
            <a:r>
              <a:rPr lang="en-US" sz="1100" dirty="0">
                <a:latin typeface="Calibri" pitchFamily="34" charset="0"/>
                <a:ea typeface="Calibri" pitchFamily="34" charset="-122"/>
                <a:cs typeface="Calibri" pitchFamily="34" charset="-120"/>
              </a:rPr>
              <a:t>.</a:t>
            </a:r>
            <a:endParaRPr lang="en-US" sz="1100" dirty="0"/>
          </a:p>
        </p:txBody>
      </p:sp>
      <p:sp>
        <p:nvSpPr>
          <p:cNvPr id="9" name="Shape 7"/>
          <p:cNvSpPr/>
          <p:nvPr/>
        </p:nvSpPr>
        <p:spPr>
          <a:xfrm>
            <a:off x="548640" y="3383280"/>
            <a:ext cx="5303520" cy="1005840"/>
          </a:xfrm>
          <a:prstGeom prst="rect">
            <a:avLst/>
          </a:prstGeom>
          <a:solidFill>
            <a:srgbClr val="F8FAFC"/>
          </a:solidFill>
          <a:ln w="9525">
            <a:solidFill>
              <a:srgbClr val="E2E8F0"/>
            </a:solidFill>
            <a:prstDash val="solid"/>
          </a:ln>
          <a:effectLst>
            <a:outerShdw blurRad="101600" dist="25400" dir="5400000" algn="bl" rotWithShape="0">
              <a:srgbClr val="0F172A">
                <a:alpha val="6000"/>
              </a:srgbClr>
            </a:outerShdw>
          </a:effectLst>
        </p:spPr>
        <p:txBody>
          <a:bodyPr/>
          <a:lstStyle/>
          <a:p>
            <a:endParaRPr lang="en-US"/>
          </a:p>
        </p:txBody>
      </p:sp>
      <p:sp>
        <p:nvSpPr>
          <p:cNvPr id="10" name="Text 8"/>
          <p:cNvSpPr/>
          <p:nvPr/>
        </p:nvSpPr>
        <p:spPr>
          <a:xfrm>
            <a:off x="777240" y="3520440"/>
            <a:ext cx="822960" cy="365760"/>
          </a:xfrm>
          <a:prstGeom prst="rect">
            <a:avLst/>
          </a:prstGeom>
          <a:noFill/>
          <a:ln/>
        </p:spPr>
        <p:txBody>
          <a:bodyPr wrap="square" lIns="0" tIns="0" rIns="0" bIns="0" rtlCol="0" anchor="ctr"/>
          <a:lstStyle/>
          <a:p>
            <a:pPr marL="0" indent="0">
              <a:buNone/>
            </a:pPr>
            <a:r>
              <a:rPr lang="en-US" sz="2200" b="1" dirty="0">
                <a:solidFill>
                  <a:srgbClr val="2563EB"/>
                </a:solidFill>
                <a:latin typeface="Georgia" pitchFamily="34" charset="0"/>
                <a:ea typeface="Georgia" pitchFamily="34" charset="-122"/>
                <a:cs typeface="Georgia" pitchFamily="34" charset="-120"/>
              </a:rPr>
              <a:t>02</a:t>
            </a:r>
            <a:endParaRPr lang="en-US" sz="2200" dirty="0"/>
          </a:p>
        </p:txBody>
      </p:sp>
      <p:sp>
        <p:nvSpPr>
          <p:cNvPr id="11" name="Text 9"/>
          <p:cNvSpPr/>
          <p:nvPr/>
        </p:nvSpPr>
        <p:spPr>
          <a:xfrm>
            <a:off x="1554480" y="3520440"/>
            <a:ext cx="4114800" cy="36576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It's inconsistent</a:t>
            </a:r>
            <a:endParaRPr lang="en-US" sz="1500" dirty="0"/>
          </a:p>
        </p:txBody>
      </p:sp>
      <p:sp>
        <p:nvSpPr>
          <p:cNvPr id="12" name="Text 10"/>
          <p:cNvSpPr/>
          <p:nvPr/>
        </p:nvSpPr>
        <p:spPr>
          <a:xfrm>
            <a:off x="1554480" y="3886200"/>
            <a:ext cx="4114800" cy="502920"/>
          </a:xfrm>
          <a:prstGeom prst="rect">
            <a:avLst/>
          </a:prstGeom>
          <a:noFill/>
          <a:ln/>
        </p:spPr>
        <p:txBody>
          <a:bodyPr wrap="square" lIns="0" tIns="0" rIns="0" bIns="0" rtlCol="0" anchor="ctr"/>
          <a:lstStyle/>
          <a:p>
            <a:pPr marL="0" indent="0">
              <a:buNone/>
            </a:pPr>
            <a:r>
              <a:rPr lang="en-US" sz="1400" dirty="0">
                <a:latin typeface="Calibri" pitchFamily="34" charset="0"/>
                <a:ea typeface="Calibri" pitchFamily="34" charset="-122"/>
                <a:cs typeface="Calibri" pitchFamily="34" charset="-120"/>
              </a:rPr>
              <a:t>Inter-rater variability, fatigue, and implicit bias</a:t>
            </a:r>
            <a:r>
              <a:rPr lang="en-US" sz="1100" dirty="0">
                <a:solidFill>
                  <a:srgbClr val="64748B"/>
                </a:solidFill>
                <a:latin typeface="Calibri" pitchFamily="34" charset="0"/>
                <a:ea typeface="Calibri" pitchFamily="34" charset="-122"/>
                <a:cs typeface="Calibri" pitchFamily="34" charset="-120"/>
              </a:rPr>
              <a:t>.</a:t>
            </a:r>
            <a:endParaRPr lang="en-US" sz="1100" dirty="0"/>
          </a:p>
        </p:txBody>
      </p:sp>
      <p:sp>
        <p:nvSpPr>
          <p:cNvPr id="13" name="Shape 11"/>
          <p:cNvSpPr/>
          <p:nvPr/>
        </p:nvSpPr>
        <p:spPr>
          <a:xfrm>
            <a:off x="548640" y="4526280"/>
            <a:ext cx="5303520" cy="1005840"/>
          </a:xfrm>
          <a:prstGeom prst="rect">
            <a:avLst/>
          </a:prstGeom>
          <a:solidFill>
            <a:srgbClr val="F8FAFC"/>
          </a:solidFill>
          <a:ln w="9525">
            <a:solidFill>
              <a:srgbClr val="E2E8F0"/>
            </a:solidFill>
            <a:prstDash val="solid"/>
          </a:ln>
          <a:effectLst>
            <a:outerShdw blurRad="101600" dist="25400" dir="5400000" algn="bl" rotWithShape="0">
              <a:srgbClr val="0F172A">
                <a:alpha val="6000"/>
              </a:srgbClr>
            </a:outerShdw>
          </a:effectLst>
        </p:spPr>
        <p:txBody>
          <a:bodyPr/>
          <a:lstStyle/>
          <a:p>
            <a:endParaRPr lang="en-US"/>
          </a:p>
        </p:txBody>
      </p:sp>
      <p:sp>
        <p:nvSpPr>
          <p:cNvPr id="14" name="Text 12"/>
          <p:cNvSpPr/>
          <p:nvPr/>
        </p:nvSpPr>
        <p:spPr>
          <a:xfrm>
            <a:off x="777240" y="4663440"/>
            <a:ext cx="822960" cy="365760"/>
          </a:xfrm>
          <a:prstGeom prst="rect">
            <a:avLst/>
          </a:prstGeom>
          <a:noFill/>
          <a:ln/>
        </p:spPr>
        <p:txBody>
          <a:bodyPr wrap="square" lIns="0" tIns="0" rIns="0" bIns="0" rtlCol="0" anchor="ctr"/>
          <a:lstStyle/>
          <a:p>
            <a:pPr marL="0" indent="0">
              <a:buNone/>
            </a:pPr>
            <a:r>
              <a:rPr lang="en-US" sz="2200" b="1" dirty="0">
                <a:solidFill>
                  <a:srgbClr val="2563EB"/>
                </a:solidFill>
                <a:latin typeface="Georgia" pitchFamily="34" charset="0"/>
                <a:ea typeface="Georgia" pitchFamily="34" charset="-122"/>
                <a:cs typeface="Georgia" pitchFamily="34" charset="-120"/>
              </a:rPr>
              <a:t>03</a:t>
            </a:r>
            <a:endParaRPr lang="en-US" sz="2200" dirty="0"/>
          </a:p>
        </p:txBody>
      </p:sp>
      <p:sp>
        <p:nvSpPr>
          <p:cNvPr id="15" name="Text 13"/>
          <p:cNvSpPr/>
          <p:nvPr/>
        </p:nvSpPr>
        <p:spPr>
          <a:xfrm>
            <a:off x="1554480" y="4663440"/>
            <a:ext cx="4114800" cy="36576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It uses generic content</a:t>
            </a:r>
            <a:endParaRPr lang="en-US" sz="1500" dirty="0"/>
          </a:p>
        </p:txBody>
      </p:sp>
      <p:sp>
        <p:nvSpPr>
          <p:cNvPr id="16" name="Text 14"/>
          <p:cNvSpPr/>
          <p:nvPr/>
        </p:nvSpPr>
        <p:spPr>
          <a:xfrm>
            <a:off x="1554480" y="5029200"/>
            <a:ext cx="4114800" cy="502920"/>
          </a:xfrm>
          <a:prstGeom prst="rect">
            <a:avLst/>
          </a:prstGeom>
          <a:noFill/>
          <a:ln/>
        </p:spPr>
        <p:txBody>
          <a:bodyPr wrap="square" lIns="0" tIns="0" rIns="0" bIns="0" rtlCol="0" anchor="ctr"/>
          <a:lstStyle/>
          <a:p>
            <a:pPr marL="0" indent="0">
              <a:buNone/>
            </a:pPr>
            <a:r>
              <a:rPr lang="en-US" sz="1400" dirty="0">
                <a:latin typeface="Calibri" pitchFamily="34" charset="0"/>
                <a:ea typeface="Calibri" pitchFamily="34" charset="-122"/>
                <a:cs typeface="Calibri" pitchFamily="34" charset="-120"/>
              </a:rPr>
              <a:t>Pre-written scenarios designed for broad applicability.</a:t>
            </a:r>
            <a:endParaRPr lang="en-US" sz="1400" dirty="0"/>
          </a:p>
        </p:txBody>
      </p:sp>
      <p:sp>
        <p:nvSpPr>
          <p:cNvPr id="17" name="Text 15"/>
          <p:cNvSpPr/>
          <p:nvPr/>
        </p:nvSpPr>
        <p:spPr>
          <a:xfrm>
            <a:off x="6309360" y="1783080"/>
            <a:ext cx="5394960" cy="365760"/>
          </a:xfrm>
          <a:prstGeom prst="rect">
            <a:avLst/>
          </a:prstGeom>
          <a:noFill/>
          <a:ln/>
        </p:spPr>
        <p:txBody>
          <a:bodyPr wrap="square" lIns="0" tIns="0" rIns="0" bIns="0" rtlCol="0" anchor="ctr"/>
          <a:lstStyle/>
          <a:p>
            <a:pPr marL="0" indent="0">
              <a:buNone/>
            </a:pPr>
            <a:r>
              <a:rPr lang="en-US" sz="1600" b="1" dirty="0">
                <a:solidFill>
                  <a:srgbClr val="0F172A"/>
                </a:solidFill>
                <a:latin typeface="Georgia" pitchFamily="34" charset="0"/>
                <a:ea typeface="Georgia" pitchFamily="34" charset="-122"/>
                <a:cs typeface="Georgia" pitchFamily="34" charset="-120"/>
              </a:rPr>
              <a:t>The TALENS solution</a:t>
            </a:r>
            <a:endParaRPr lang="en-US" sz="1600" dirty="0"/>
          </a:p>
        </p:txBody>
      </p:sp>
      <p:sp>
        <p:nvSpPr>
          <p:cNvPr id="18" name="Shape 16"/>
          <p:cNvSpPr/>
          <p:nvPr/>
        </p:nvSpPr>
        <p:spPr>
          <a:xfrm>
            <a:off x="6309360" y="2240280"/>
            <a:ext cx="5394960" cy="3520440"/>
          </a:xfrm>
          <a:prstGeom prst="rect">
            <a:avLst/>
          </a:prstGeom>
          <a:solidFill>
            <a:srgbClr val="0B1F3A"/>
          </a:solidFill>
          <a:ln w="12700">
            <a:solidFill>
              <a:srgbClr val="0B1F3A"/>
            </a:solidFill>
            <a:prstDash val="solid"/>
          </a:ln>
          <a:effectLst>
            <a:outerShdw blurRad="127000" dist="38100" dir="5400000" algn="bl" rotWithShape="0">
              <a:srgbClr val="0F172A">
                <a:alpha val="15000"/>
              </a:srgbClr>
            </a:outerShdw>
          </a:effectLst>
        </p:spPr>
        <p:txBody>
          <a:bodyPr/>
          <a:lstStyle/>
          <a:p>
            <a:endParaRPr lang="en-US"/>
          </a:p>
        </p:txBody>
      </p:sp>
      <p:sp>
        <p:nvSpPr>
          <p:cNvPr id="20" name="Text 17"/>
          <p:cNvSpPr/>
          <p:nvPr/>
        </p:nvSpPr>
        <p:spPr>
          <a:xfrm>
            <a:off x="6537960" y="2468880"/>
            <a:ext cx="4937760" cy="411480"/>
          </a:xfrm>
          <a:prstGeom prst="rect">
            <a:avLst/>
          </a:prstGeom>
          <a:noFill/>
          <a:ln/>
        </p:spPr>
        <p:txBody>
          <a:bodyPr wrap="square" lIns="0" tIns="0" rIns="0" bIns="0"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AI-native, end to end</a:t>
            </a:r>
            <a:endParaRPr lang="en-US" sz="1800" dirty="0"/>
          </a:p>
        </p:txBody>
      </p:sp>
      <p:sp>
        <p:nvSpPr>
          <p:cNvPr id="21" name="Text 18"/>
          <p:cNvSpPr/>
          <p:nvPr/>
        </p:nvSpPr>
        <p:spPr>
          <a:xfrm>
            <a:off x="6537960" y="3017520"/>
            <a:ext cx="4983480" cy="914400"/>
          </a:xfrm>
          <a:prstGeom prst="rect">
            <a:avLst/>
          </a:prstGeom>
          <a:noFill/>
          <a:ln/>
        </p:spPr>
        <p:txBody>
          <a:bodyPr wrap="square" lIns="0" tIns="0" rIns="0" bIns="0" rtlCol="0" anchor="ctr"/>
          <a:lstStyle/>
          <a:p>
            <a:pPr marL="0" indent="0">
              <a:buNone/>
            </a:pPr>
            <a:r>
              <a:rPr lang="en-US" sz="1400" dirty="0">
                <a:solidFill>
                  <a:srgbClr val="DBEAFE"/>
                </a:solidFill>
                <a:latin typeface="Calibri" pitchFamily="34" charset="0"/>
                <a:ea typeface="Calibri" pitchFamily="34" charset="-122"/>
                <a:cs typeface="Calibri" pitchFamily="34" charset="-120"/>
              </a:rPr>
              <a:t>The entire pipeline — configuration, content, assessment, evaluation — is driven by AI. No pre-written human content required.</a:t>
            </a:r>
            <a:endParaRPr lang="en-US" sz="1400" dirty="0"/>
          </a:p>
        </p:txBody>
      </p:sp>
      <p:sp>
        <p:nvSpPr>
          <p:cNvPr id="22" name="Shape 19"/>
          <p:cNvSpPr/>
          <p:nvPr/>
        </p:nvSpPr>
        <p:spPr>
          <a:xfrm>
            <a:off x="6537960" y="4023360"/>
            <a:ext cx="2331720" cy="1554480"/>
          </a:xfrm>
          <a:prstGeom prst="rect">
            <a:avLst/>
          </a:prstGeom>
          <a:solidFill>
            <a:srgbClr val="FFFFFF">
              <a:alpha val="10000"/>
            </a:srgbClr>
          </a:solidFill>
          <a:ln w="9525">
            <a:solidFill>
              <a:srgbClr val="2563EB">
                <a:alpha val="40000"/>
              </a:srgbClr>
            </a:solidFill>
            <a:prstDash val="solid"/>
          </a:ln>
        </p:spPr>
        <p:txBody>
          <a:bodyPr/>
          <a:lstStyle/>
          <a:p>
            <a:endParaRPr lang="en-US"/>
          </a:p>
        </p:txBody>
      </p:sp>
      <p:sp>
        <p:nvSpPr>
          <p:cNvPr id="23" name="Text 20"/>
          <p:cNvSpPr/>
          <p:nvPr/>
        </p:nvSpPr>
        <p:spPr>
          <a:xfrm>
            <a:off x="6675120" y="4114800"/>
            <a:ext cx="2103120"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The human defines WHAT</a:t>
            </a:r>
            <a:endParaRPr lang="en-US" sz="1100" dirty="0"/>
          </a:p>
        </p:txBody>
      </p:sp>
      <p:sp>
        <p:nvSpPr>
          <p:cNvPr id="24" name="Text 21"/>
          <p:cNvSpPr/>
          <p:nvPr/>
        </p:nvSpPr>
        <p:spPr>
          <a:xfrm>
            <a:off x="6675120" y="4434840"/>
            <a:ext cx="2103120" cy="1005840"/>
          </a:xfrm>
          <a:prstGeom prst="rect">
            <a:avLst/>
          </a:prstGeom>
          <a:noFill/>
          <a:ln/>
        </p:spPr>
        <p:txBody>
          <a:bodyPr wrap="square" lIns="0" tIns="0" rIns="0" bIns="0" rtlCol="0" anchor="ctr"/>
          <a:lstStyle/>
          <a:p>
            <a:pPr marL="0" indent="0">
              <a:buNone/>
            </a:pPr>
            <a:r>
              <a:rPr lang="en-US" sz="1400" dirty="0">
                <a:solidFill>
                  <a:srgbClr val="DBEAFE"/>
                </a:solidFill>
                <a:latin typeface="Calibri" pitchFamily="34" charset="0"/>
                <a:ea typeface="Calibri" pitchFamily="34" charset="-122"/>
                <a:cs typeface="Calibri" pitchFamily="34" charset="-120"/>
              </a:rPr>
              <a:t>Industry, role, seniority, and target competencies.</a:t>
            </a:r>
            <a:endParaRPr lang="en-US" sz="1400" dirty="0"/>
          </a:p>
        </p:txBody>
      </p:sp>
      <p:sp>
        <p:nvSpPr>
          <p:cNvPr id="25" name="Shape 22"/>
          <p:cNvSpPr/>
          <p:nvPr/>
        </p:nvSpPr>
        <p:spPr>
          <a:xfrm>
            <a:off x="9006840" y="4023360"/>
            <a:ext cx="2514600" cy="1554480"/>
          </a:xfrm>
          <a:prstGeom prst="rect">
            <a:avLst/>
          </a:prstGeom>
          <a:solidFill>
            <a:srgbClr val="FFFFFF">
              <a:alpha val="10000"/>
            </a:srgbClr>
          </a:solidFill>
          <a:ln w="9525">
            <a:solidFill>
              <a:srgbClr val="2563EB">
                <a:alpha val="40000"/>
              </a:srgbClr>
            </a:solidFill>
            <a:prstDash val="solid"/>
          </a:ln>
        </p:spPr>
        <p:txBody>
          <a:bodyPr/>
          <a:lstStyle/>
          <a:p>
            <a:endParaRPr lang="en-US"/>
          </a:p>
        </p:txBody>
      </p:sp>
      <p:sp>
        <p:nvSpPr>
          <p:cNvPr id="26" name="Text 23"/>
          <p:cNvSpPr/>
          <p:nvPr/>
        </p:nvSpPr>
        <p:spPr>
          <a:xfrm>
            <a:off x="9144000" y="4114800"/>
            <a:ext cx="2286000"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The AI handles HOW</a:t>
            </a:r>
            <a:endParaRPr lang="en-US" sz="1100" dirty="0"/>
          </a:p>
        </p:txBody>
      </p:sp>
      <p:sp>
        <p:nvSpPr>
          <p:cNvPr id="27" name="Text 24"/>
          <p:cNvSpPr/>
          <p:nvPr/>
        </p:nvSpPr>
        <p:spPr>
          <a:xfrm>
            <a:off x="9144000" y="4434840"/>
            <a:ext cx="2286000" cy="1051560"/>
          </a:xfrm>
          <a:prstGeom prst="rect">
            <a:avLst/>
          </a:prstGeom>
          <a:noFill/>
          <a:ln/>
        </p:spPr>
        <p:txBody>
          <a:bodyPr wrap="square" lIns="0" tIns="0" rIns="0" bIns="0" rtlCol="0" anchor="ctr"/>
          <a:lstStyle/>
          <a:p>
            <a:pPr marL="0" indent="0">
              <a:buNone/>
            </a:pPr>
            <a:r>
              <a:rPr lang="en-US" sz="1400" dirty="0">
                <a:solidFill>
                  <a:srgbClr val="DBEAFE"/>
                </a:solidFill>
                <a:latin typeface="Calibri" pitchFamily="34" charset="0"/>
                <a:ea typeface="Calibri" pitchFamily="34" charset="-122"/>
                <a:cs typeface="Calibri" pitchFamily="34" charset="-120"/>
              </a:rPr>
              <a:t>Generates scenarios, runs adaptive assessments, produces evidence-based reports.</a:t>
            </a:r>
            <a:endParaRPr lang="en-US" sz="1400" dirty="0"/>
          </a:p>
        </p:txBody>
      </p:sp>
      <p:sp>
        <p:nvSpPr>
          <p:cNvPr id="28" name="Text 25"/>
          <p:cNvSpPr/>
          <p:nvPr/>
        </p:nvSpPr>
        <p:spPr>
          <a:xfrm>
            <a:off x="6309360" y="5897880"/>
            <a:ext cx="5394960" cy="36576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Not AI bolted onto traditional assessment — assessment reimagined from the ground up.</a:t>
            </a:r>
            <a:endParaRPr lang="en-US" sz="1100" dirty="0"/>
          </a:p>
        </p:txBody>
      </p:sp>
      <p:sp>
        <p:nvSpPr>
          <p:cNvPr id="29" name="Text 26"/>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TALENS  ·  AI-Native Assessment Platform</a:t>
            </a:r>
            <a:endParaRPr lang="en-US" sz="900" dirty="0"/>
          </a:p>
        </p:txBody>
      </p:sp>
      <p:sp>
        <p:nvSpPr>
          <p:cNvPr id="30" name="Text 27"/>
          <p:cNvSpPr/>
          <p:nvPr/>
        </p:nvSpPr>
        <p:spPr>
          <a:xfrm>
            <a:off x="10972800" y="6446520"/>
            <a:ext cx="822960" cy="274320"/>
          </a:xfrm>
          <a:prstGeom prst="rect">
            <a:avLst/>
          </a:prstGeom>
          <a:noFill/>
          <a:ln/>
        </p:spPr>
        <p:txBody>
          <a:bodyPr wrap="square" lIns="0" tIns="0" rIns="0" bIns="0" rtlCol="0" anchor="ctr"/>
          <a:lstStyle/>
          <a:p>
            <a:pPr marL="0" indent="0" algn="r">
              <a:buNone/>
            </a:pPr>
            <a:fld id="{6F2FAB83-15A9-4446-A83E-37BCA0A0EBC9}" type="slidenum">
              <a:rPr lang="en-US" sz="900" smtClean="0">
                <a:solidFill>
                  <a:srgbClr val="64748B"/>
                </a:solidFill>
                <a:latin typeface="Calibri" pitchFamily="34" charset="0"/>
                <a:ea typeface="Calibri" pitchFamily="34" charset="-122"/>
                <a:cs typeface="Calibri" pitchFamily="34" charset="-120"/>
              </a:rPr>
              <a:t>2</a:t>
            </a:fld>
            <a:r>
              <a:rPr lang="en-US" sz="900" dirty="0">
                <a:solidFill>
                  <a:srgbClr val="64748B"/>
                </a:solidFill>
                <a:latin typeface="Calibri" pitchFamily="34" charset="0"/>
                <a:ea typeface="Calibri" pitchFamily="34" charset="-122"/>
                <a:cs typeface="Calibri" pitchFamily="34" charset="-120"/>
              </a:rPr>
              <a:t> </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502920"/>
            <a:ext cx="10972800" cy="274320"/>
          </a:xfrm>
          <a:prstGeom prst="rect">
            <a:avLst/>
          </a:prstGeom>
          <a:noFill/>
          <a:ln/>
        </p:spPr>
        <p:txBody>
          <a:bodyPr wrap="square" lIns="0" tIns="0" rIns="0" bIns="0" rtlCol="0" anchor="ctr"/>
          <a:lstStyle/>
          <a:p>
            <a:pPr marL="0" indent="0">
              <a:buNone/>
            </a:pPr>
            <a:r>
              <a:rPr lang="en-US" sz="1200" b="1" kern="0" spc="400" dirty="0">
                <a:solidFill>
                  <a:srgbClr val="2563EB"/>
                </a:solidFill>
                <a:latin typeface="Calibri" pitchFamily="34" charset="0"/>
                <a:ea typeface="Calibri" pitchFamily="34" charset="-122"/>
                <a:cs typeface="Calibri" pitchFamily="34" charset="-120"/>
              </a:rPr>
              <a:t>HOW IT WORKS</a:t>
            </a:r>
            <a:endParaRPr lang="en-US" sz="1200" dirty="0"/>
          </a:p>
        </p:txBody>
      </p:sp>
      <p:sp>
        <p:nvSpPr>
          <p:cNvPr id="3" name="Text 1"/>
          <p:cNvSpPr/>
          <p:nvPr/>
        </p:nvSpPr>
        <p:spPr>
          <a:xfrm>
            <a:off x="548640" y="777240"/>
            <a:ext cx="10972800" cy="822960"/>
          </a:xfrm>
          <a:prstGeom prst="rect">
            <a:avLst/>
          </a:prstGeom>
          <a:noFill/>
          <a:ln/>
        </p:spPr>
        <p:txBody>
          <a:bodyPr wrap="square" lIns="0" tIns="0" rIns="0" bIns="0" rtlCol="0" anchor="ctr"/>
          <a:lstStyle/>
          <a:p>
            <a:pPr marL="0" indent="0">
              <a:buNone/>
            </a:pPr>
            <a:r>
              <a:rPr lang="en-US" sz="3400" b="1" dirty="0">
                <a:solidFill>
                  <a:srgbClr val="0F172A"/>
                </a:solidFill>
                <a:latin typeface="Georgia" pitchFamily="34" charset="0"/>
                <a:ea typeface="Georgia" pitchFamily="34" charset="-122"/>
                <a:cs typeface="Georgia" pitchFamily="34" charset="-120"/>
              </a:rPr>
              <a:t>A four-phase, fully automated pipeline</a:t>
            </a:r>
            <a:endParaRPr lang="en-US" sz="3400" dirty="0"/>
          </a:p>
        </p:txBody>
      </p:sp>
      <p:sp>
        <p:nvSpPr>
          <p:cNvPr id="4" name="Shape 2"/>
          <p:cNvSpPr/>
          <p:nvPr/>
        </p:nvSpPr>
        <p:spPr>
          <a:xfrm>
            <a:off x="548640" y="1920240"/>
            <a:ext cx="2606040" cy="3200400"/>
          </a:xfrm>
          <a:prstGeom prst="rect">
            <a:avLst/>
          </a:prstGeom>
          <a:solidFill>
            <a:srgbClr val="F8FAFC"/>
          </a:solidFill>
          <a:ln w="9525">
            <a:solidFill>
              <a:srgbClr val="E2E8F0"/>
            </a:solidFill>
            <a:prstDash val="solid"/>
          </a:ln>
          <a:effectLst>
            <a:outerShdw blurRad="101600" dist="25400" dir="5400000" algn="bl" rotWithShape="0">
              <a:srgbClr val="0F172A">
                <a:alpha val="6000"/>
              </a:srgbClr>
            </a:outerShdw>
          </a:effectLst>
        </p:spPr>
        <p:txBody>
          <a:bodyPr/>
          <a:lstStyle/>
          <a:p>
            <a:endParaRPr lang="en-US"/>
          </a:p>
        </p:txBody>
      </p:sp>
      <p:sp>
        <p:nvSpPr>
          <p:cNvPr id="5" name="Shape 3"/>
          <p:cNvSpPr/>
          <p:nvPr/>
        </p:nvSpPr>
        <p:spPr>
          <a:xfrm>
            <a:off x="822960" y="2240280"/>
            <a:ext cx="502920" cy="502920"/>
          </a:xfrm>
          <a:prstGeom prst="ellipse">
            <a:avLst/>
          </a:prstGeom>
          <a:solidFill>
            <a:srgbClr val="DBEAFE"/>
          </a:solidFill>
          <a:ln w="12700">
            <a:solidFill>
              <a:srgbClr val="DBEAFE"/>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14400" y="2331720"/>
            <a:ext cx="320040" cy="320040"/>
          </a:xfrm>
          <a:prstGeom prst="rect">
            <a:avLst/>
          </a:prstGeom>
        </p:spPr>
      </p:pic>
      <p:sp>
        <p:nvSpPr>
          <p:cNvPr id="7" name="Text 4"/>
          <p:cNvSpPr/>
          <p:nvPr/>
        </p:nvSpPr>
        <p:spPr>
          <a:xfrm>
            <a:off x="822960" y="2880360"/>
            <a:ext cx="2240280" cy="274320"/>
          </a:xfrm>
          <a:prstGeom prst="rect">
            <a:avLst/>
          </a:prstGeom>
          <a:noFill/>
          <a:ln/>
        </p:spPr>
        <p:txBody>
          <a:bodyPr wrap="square" lIns="0" tIns="0" rIns="0" bIns="0" rtlCol="0" anchor="ctr"/>
          <a:lstStyle/>
          <a:p>
            <a:pPr marL="0" indent="0">
              <a:buNone/>
            </a:pPr>
            <a:r>
              <a:rPr lang="en-US" sz="1000" b="1" kern="0" spc="400" dirty="0">
                <a:solidFill>
                  <a:srgbClr val="2563EB"/>
                </a:solidFill>
                <a:latin typeface="Calibri" pitchFamily="34" charset="0"/>
                <a:ea typeface="Calibri" pitchFamily="34" charset="-122"/>
                <a:cs typeface="Calibri" pitchFamily="34" charset="-120"/>
              </a:rPr>
              <a:t>PHASE 1</a:t>
            </a:r>
            <a:endParaRPr lang="en-US" sz="1000" dirty="0"/>
          </a:p>
        </p:txBody>
      </p:sp>
      <p:sp>
        <p:nvSpPr>
          <p:cNvPr id="8" name="Text 5"/>
          <p:cNvSpPr/>
          <p:nvPr/>
        </p:nvSpPr>
        <p:spPr>
          <a:xfrm>
            <a:off x="822960" y="3154680"/>
            <a:ext cx="2240280" cy="457200"/>
          </a:xfrm>
          <a:prstGeom prst="rect">
            <a:avLst/>
          </a:prstGeom>
          <a:noFill/>
          <a:ln/>
        </p:spPr>
        <p:txBody>
          <a:bodyPr wrap="square" lIns="0" tIns="0" rIns="0" bIns="0" rtlCol="0" anchor="ctr"/>
          <a:lstStyle/>
          <a:p>
            <a:pPr marL="0" indent="0">
              <a:buNone/>
            </a:pPr>
            <a:r>
              <a:rPr lang="en-US" sz="2200" b="1" dirty="0">
                <a:solidFill>
                  <a:srgbClr val="0F172A"/>
                </a:solidFill>
                <a:latin typeface="Georgia" pitchFamily="34" charset="0"/>
                <a:ea typeface="Georgia" pitchFamily="34" charset="-122"/>
                <a:cs typeface="Georgia" pitchFamily="34" charset="-120"/>
              </a:rPr>
              <a:t>Configure</a:t>
            </a:r>
            <a:endParaRPr lang="en-US" sz="2200" dirty="0"/>
          </a:p>
        </p:txBody>
      </p:sp>
      <p:sp>
        <p:nvSpPr>
          <p:cNvPr id="9" name="Text 6"/>
          <p:cNvSpPr/>
          <p:nvPr/>
        </p:nvSpPr>
        <p:spPr>
          <a:xfrm>
            <a:off x="822960" y="3657600"/>
            <a:ext cx="2148840" cy="137160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AI assistant guides campaign setup — suggests modules, validates coherence, ensures coverage.</a:t>
            </a:r>
            <a:endParaRPr lang="en-US" sz="1400" dirty="0"/>
          </a:p>
        </p:txBody>
      </p:sp>
      <p:sp>
        <p:nvSpPr>
          <p:cNvPr id="10" name="Text 7"/>
          <p:cNvSpPr/>
          <p:nvPr/>
        </p:nvSpPr>
        <p:spPr>
          <a:xfrm>
            <a:off x="3172968" y="3291840"/>
            <a:ext cx="201168" cy="457200"/>
          </a:xfrm>
          <a:prstGeom prst="rect">
            <a:avLst/>
          </a:prstGeom>
          <a:noFill/>
          <a:ln/>
        </p:spPr>
        <p:txBody>
          <a:bodyPr wrap="square" lIns="0" tIns="0" rIns="0" bIns="0" rtlCol="0" anchor="ctr"/>
          <a:lstStyle/>
          <a:p>
            <a:pPr marL="0" indent="0" algn="ctr">
              <a:buNone/>
            </a:pPr>
            <a:r>
              <a:rPr lang="en-US" sz="2200" b="1" dirty="0">
                <a:solidFill>
                  <a:srgbClr val="2563EB"/>
                </a:solidFill>
                <a:latin typeface="Calibri" pitchFamily="34" charset="0"/>
                <a:ea typeface="Calibri" pitchFamily="34" charset="-122"/>
                <a:cs typeface="Calibri" pitchFamily="34" charset="-120"/>
              </a:rPr>
              <a:t>→</a:t>
            </a:r>
            <a:endParaRPr lang="en-US" sz="2200" dirty="0"/>
          </a:p>
        </p:txBody>
      </p:sp>
      <p:sp>
        <p:nvSpPr>
          <p:cNvPr id="11" name="Shape 8"/>
          <p:cNvSpPr/>
          <p:nvPr/>
        </p:nvSpPr>
        <p:spPr>
          <a:xfrm>
            <a:off x="3383280" y="1920240"/>
            <a:ext cx="2606040" cy="3200400"/>
          </a:xfrm>
          <a:prstGeom prst="rect">
            <a:avLst/>
          </a:prstGeom>
          <a:solidFill>
            <a:srgbClr val="F8FAFC"/>
          </a:solidFill>
          <a:ln w="9525">
            <a:solidFill>
              <a:srgbClr val="E2E8F0"/>
            </a:solidFill>
            <a:prstDash val="solid"/>
          </a:ln>
          <a:effectLst>
            <a:outerShdw blurRad="101600" dist="25400" dir="5400000" algn="bl" rotWithShape="0">
              <a:srgbClr val="0F172A">
                <a:alpha val="6000"/>
              </a:srgbClr>
            </a:outerShdw>
          </a:effectLst>
        </p:spPr>
        <p:txBody>
          <a:bodyPr/>
          <a:lstStyle/>
          <a:p>
            <a:endParaRPr lang="en-US"/>
          </a:p>
        </p:txBody>
      </p:sp>
      <p:sp>
        <p:nvSpPr>
          <p:cNvPr id="12" name="Shape 9"/>
          <p:cNvSpPr/>
          <p:nvPr/>
        </p:nvSpPr>
        <p:spPr>
          <a:xfrm>
            <a:off x="3657600" y="2240280"/>
            <a:ext cx="502920" cy="502920"/>
          </a:xfrm>
          <a:prstGeom prst="ellipse">
            <a:avLst/>
          </a:prstGeom>
          <a:solidFill>
            <a:srgbClr val="DBEAFE"/>
          </a:solidFill>
          <a:ln w="12700">
            <a:solidFill>
              <a:srgbClr val="DBEAFE"/>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3749040" y="2331720"/>
            <a:ext cx="320040" cy="320040"/>
          </a:xfrm>
          <a:prstGeom prst="rect">
            <a:avLst/>
          </a:prstGeom>
        </p:spPr>
      </p:pic>
      <p:sp>
        <p:nvSpPr>
          <p:cNvPr id="14" name="Text 10"/>
          <p:cNvSpPr/>
          <p:nvPr/>
        </p:nvSpPr>
        <p:spPr>
          <a:xfrm>
            <a:off x="3657600" y="2880360"/>
            <a:ext cx="2240280" cy="274320"/>
          </a:xfrm>
          <a:prstGeom prst="rect">
            <a:avLst/>
          </a:prstGeom>
          <a:noFill/>
          <a:ln/>
        </p:spPr>
        <p:txBody>
          <a:bodyPr wrap="square" lIns="0" tIns="0" rIns="0" bIns="0" rtlCol="0" anchor="ctr"/>
          <a:lstStyle/>
          <a:p>
            <a:pPr marL="0" indent="0">
              <a:buNone/>
            </a:pPr>
            <a:r>
              <a:rPr lang="en-US" sz="1000" b="1" kern="0" spc="400" dirty="0">
                <a:solidFill>
                  <a:srgbClr val="2563EB"/>
                </a:solidFill>
                <a:latin typeface="Calibri" pitchFamily="34" charset="0"/>
                <a:ea typeface="Calibri" pitchFamily="34" charset="-122"/>
                <a:cs typeface="Calibri" pitchFamily="34" charset="-120"/>
              </a:rPr>
              <a:t>PHASE 2</a:t>
            </a:r>
            <a:endParaRPr lang="en-US" sz="1000" dirty="0"/>
          </a:p>
        </p:txBody>
      </p:sp>
      <p:sp>
        <p:nvSpPr>
          <p:cNvPr id="15" name="Text 11"/>
          <p:cNvSpPr/>
          <p:nvPr/>
        </p:nvSpPr>
        <p:spPr>
          <a:xfrm>
            <a:off x="3657600" y="3154680"/>
            <a:ext cx="2240280" cy="457200"/>
          </a:xfrm>
          <a:prstGeom prst="rect">
            <a:avLst/>
          </a:prstGeom>
          <a:noFill/>
          <a:ln/>
        </p:spPr>
        <p:txBody>
          <a:bodyPr wrap="square" lIns="0" tIns="0" rIns="0" bIns="0" rtlCol="0" anchor="ctr"/>
          <a:lstStyle/>
          <a:p>
            <a:pPr marL="0" indent="0">
              <a:buNone/>
            </a:pPr>
            <a:r>
              <a:rPr lang="en-US" sz="2200" b="1" dirty="0">
                <a:solidFill>
                  <a:srgbClr val="0F172A"/>
                </a:solidFill>
                <a:latin typeface="Georgia" pitchFamily="34" charset="0"/>
                <a:ea typeface="Georgia" pitchFamily="34" charset="-122"/>
                <a:cs typeface="Georgia" pitchFamily="34" charset="-120"/>
              </a:rPr>
              <a:t>Generate</a:t>
            </a:r>
            <a:endParaRPr lang="en-US" sz="2200" dirty="0"/>
          </a:p>
        </p:txBody>
      </p:sp>
      <p:sp>
        <p:nvSpPr>
          <p:cNvPr id="16" name="Text 12"/>
          <p:cNvSpPr/>
          <p:nvPr/>
        </p:nvSpPr>
        <p:spPr>
          <a:xfrm>
            <a:off x="3657600" y="3657600"/>
            <a:ext cx="2148840" cy="137160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Scenarios, characters, and dossiers generated in real time, tailored to sector, role, and seniority.</a:t>
            </a:r>
            <a:endParaRPr lang="en-US" sz="1400" dirty="0"/>
          </a:p>
        </p:txBody>
      </p:sp>
      <p:sp>
        <p:nvSpPr>
          <p:cNvPr id="17" name="Text 13"/>
          <p:cNvSpPr/>
          <p:nvPr/>
        </p:nvSpPr>
        <p:spPr>
          <a:xfrm>
            <a:off x="6007608" y="3291840"/>
            <a:ext cx="201168" cy="457200"/>
          </a:xfrm>
          <a:prstGeom prst="rect">
            <a:avLst/>
          </a:prstGeom>
          <a:noFill/>
          <a:ln/>
        </p:spPr>
        <p:txBody>
          <a:bodyPr wrap="square" lIns="0" tIns="0" rIns="0" bIns="0" rtlCol="0" anchor="ctr"/>
          <a:lstStyle/>
          <a:p>
            <a:pPr marL="0" indent="0" algn="ctr">
              <a:buNone/>
            </a:pPr>
            <a:r>
              <a:rPr lang="en-US" sz="2200" b="1" dirty="0">
                <a:solidFill>
                  <a:srgbClr val="2563EB"/>
                </a:solidFill>
                <a:latin typeface="Calibri" pitchFamily="34" charset="0"/>
                <a:ea typeface="Calibri" pitchFamily="34" charset="-122"/>
                <a:cs typeface="Calibri" pitchFamily="34" charset="-120"/>
              </a:rPr>
              <a:t>→</a:t>
            </a:r>
            <a:endParaRPr lang="en-US" sz="2200" dirty="0"/>
          </a:p>
        </p:txBody>
      </p:sp>
      <p:sp>
        <p:nvSpPr>
          <p:cNvPr id="18" name="Shape 14"/>
          <p:cNvSpPr/>
          <p:nvPr/>
        </p:nvSpPr>
        <p:spPr>
          <a:xfrm>
            <a:off x="6217920" y="1920240"/>
            <a:ext cx="2606040" cy="3200400"/>
          </a:xfrm>
          <a:prstGeom prst="rect">
            <a:avLst/>
          </a:prstGeom>
          <a:solidFill>
            <a:srgbClr val="F8FAFC"/>
          </a:solidFill>
          <a:ln w="9525">
            <a:solidFill>
              <a:srgbClr val="E2E8F0"/>
            </a:solidFill>
            <a:prstDash val="solid"/>
          </a:ln>
          <a:effectLst>
            <a:outerShdw blurRad="101600" dist="25400" dir="5400000" algn="bl" rotWithShape="0">
              <a:srgbClr val="0F172A">
                <a:alpha val="6000"/>
              </a:srgbClr>
            </a:outerShdw>
          </a:effectLst>
        </p:spPr>
        <p:txBody>
          <a:bodyPr/>
          <a:lstStyle/>
          <a:p>
            <a:endParaRPr lang="en-US"/>
          </a:p>
        </p:txBody>
      </p:sp>
      <p:sp>
        <p:nvSpPr>
          <p:cNvPr id="19" name="Shape 15"/>
          <p:cNvSpPr/>
          <p:nvPr/>
        </p:nvSpPr>
        <p:spPr>
          <a:xfrm>
            <a:off x="6492240" y="2240280"/>
            <a:ext cx="502920" cy="502920"/>
          </a:xfrm>
          <a:prstGeom prst="ellipse">
            <a:avLst/>
          </a:prstGeom>
          <a:solidFill>
            <a:srgbClr val="DBEAFE"/>
          </a:solidFill>
          <a:ln w="12700">
            <a:solidFill>
              <a:srgbClr val="DBEAFE"/>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6583680" y="2331720"/>
            <a:ext cx="320040" cy="320040"/>
          </a:xfrm>
          <a:prstGeom prst="rect">
            <a:avLst/>
          </a:prstGeom>
        </p:spPr>
      </p:pic>
      <p:sp>
        <p:nvSpPr>
          <p:cNvPr id="21" name="Text 16"/>
          <p:cNvSpPr/>
          <p:nvPr/>
        </p:nvSpPr>
        <p:spPr>
          <a:xfrm>
            <a:off x="6492240" y="2880360"/>
            <a:ext cx="2240280" cy="274320"/>
          </a:xfrm>
          <a:prstGeom prst="rect">
            <a:avLst/>
          </a:prstGeom>
          <a:noFill/>
          <a:ln/>
        </p:spPr>
        <p:txBody>
          <a:bodyPr wrap="square" lIns="0" tIns="0" rIns="0" bIns="0" rtlCol="0" anchor="ctr"/>
          <a:lstStyle/>
          <a:p>
            <a:pPr marL="0" indent="0">
              <a:buNone/>
            </a:pPr>
            <a:r>
              <a:rPr lang="en-US" sz="1000" b="1" kern="0" spc="400" dirty="0">
                <a:solidFill>
                  <a:srgbClr val="2563EB"/>
                </a:solidFill>
                <a:latin typeface="Calibri" pitchFamily="34" charset="0"/>
                <a:ea typeface="Calibri" pitchFamily="34" charset="-122"/>
                <a:cs typeface="Calibri" pitchFamily="34" charset="-120"/>
              </a:rPr>
              <a:t>PHASE 3</a:t>
            </a:r>
            <a:endParaRPr lang="en-US" sz="1000" dirty="0"/>
          </a:p>
        </p:txBody>
      </p:sp>
      <p:sp>
        <p:nvSpPr>
          <p:cNvPr id="22" name="Text 17"/>
          <p:cNvSpPr/>
          <p:nvPr/>
        </p:nvSpPr>
        <p:spPr>
          <a:xfrm>
            <a:off x="6492240" y="3154680"/>
            <a:ext cx="2240280" cy="457200"/>
          </a:xfrm>
          <a:prstGeom prst="rect">
            <a:avLst/>
          </a:prstGeom>
          <a:noFill/>
          <a:ln/>
        </p:spPr>
        <p:txBody>
          <a:bodyPr wrap="square" lIns="0" tIns="0" rIns="0" bIns="0" rtlCol="0" anchor="ctr"/>
          <a:lstStyle/>
          <a:p>
            <a:pPr marL="0" indent="0">
              <a:buNone/>
            </a:pPr>
            <a:r>
              <a:rPr lang="en-US" sz="2200" b="1" dirty="0">
                <a:solidFill>
                  <a:srgbClr val="0F172A"/>
                </a:solidFill>
                <a:latin typeface="Georgia" pitchFamily="34" charset="0"/>
                <a:ea typeface="Georgia" pitchFamily="34" charset="-122"/>
                <a:cs typeface="Georgia" pitchFamily="34" charset="-120"/>
              </a:rPr>
              <a:t>Assess</a:t>
            </a:r>
            <a:endParaRPr lang="en-US" sz="2200" dirty="0"/>
          </a:p>
        </p:txBody>
      </p:sp>
      <p:sp>
        <p:nvSpPr>
          <p:cNvPr id="23" name="Text 18"/>
          <p:cNvSpPr/>
          <p:nvPr/>
        </p:nvSpPr>
        <p:spPr>
          <a:xfrm>
            <a:off x="6492240" y="3657600"/>
            <a:ext cx="2148840" cy="137160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AI conducts adaptive assessments — probing, injecting complications, adjusting pressure in real time.</a:t>
            </a:r>
            <a:endParaRPr lang="en-US" sz="1400" dirty="0"/>
          </a:p>
        </p:txBody>
      </p:sp>
      <p:sp>
        <p:nvSpPr>
          <p:cNvPr id="24" name="Text 19"/>
          <p:cNvSpPr/>
          <p:nvPr/>
        </p:nvSpPr>
        <p:spPr>
          <a:xfrm>
            <a:off x="8842248" y="3291840"/>
            <a:ext cx="201168" cy="457200"/>
          </a:xfrm>
          <a:prstGeom prst="rect">
            <a:avLst/>
          </a:prstGeom>
          <a:noFill/>
          <a:ln/>
        </p:spPr>
        <p:txBody>
          <a:bodyPr wrap="square" lIns="0" tIns="0" rIns="0" bIns="0" rtlCol="0" anchor="ctr"/>
          <a:lstStyle/>
          <a:p>
            <a:pPr marL="0" indent="0" algn="ctr">
              <a:buNone/>
            </a:pPr>
            <a:r>
              <a:rPr lang="en-US" sz="2200" b="1" dirty="0">
                <a:solidFill>
                  <a:srgbClr val="2563EB"/>
                </a:solidFill>
                <a:latin typeface="Calibri" pitchFamily="34" charset="0"/>
                <a:ea typeface="Calibri" pitchFamily="34" charset="-122"/>
                <a:cs typeface="Calibri" pitchFamily="34" charset="-120"/>
              </a:rPr>
              <a:t>→</a:t>
            </a:r>
            <a:endParaRPr lang="en-US" sz="2200" dirty="0"/>
          </a:p>
        </p:txBody>
      </p:sp>
      <p:sp>
        <p:nvSpPr>
          <p:cNvPr id="25" name="Shape 20"/>
          <p:cNvSpPr/>
          <p:nvPr/>
        </p:nvSpPr>
        <p:spPr>
          <a:xfrm>
            <a:off x="9052560" y="1920240"/>
            <a:ext cx="2606040" cy="3200400"/>
          </a:xfrm>
          <a:prstGeom prst="rect">
            <a:avLst/>
          </a:prstGeom>
          <a:solidFill>
            <a:srgbClr val="F8FAFC"/>
          </a:solidFill>
          <a:ln w="9525">
            <a:solidFill>
              <a:srgbClr val="E2E8F0"/>
            </a:solidFill>
            <a:prstDash val="solid"/>
          </a:ln>
          <a:effectLst>
            <a:outerShdw blurRad="101600" dist="25400" dir="5400000" algn="bl" rotWithShape="0">
              <a:srgbClr val="0F172A">
                <a:alpha val="6000"/>
              </a:srgbClr>
            </a:outerShdw>
          </a:effectLst>
        </p:spPr>
        <p:txBody>
          <a:bodyPr/>
          <a:lstStyle/>
          <a:p>
            <a:endParaRPr lang="en-US"/>
          </a:p>
        </p:txBody>
      </p:sp>
      <p:sp>
        <p:nvSpPr>
          <p:cNvPr id="26" name="Shape 21"/>
          <p:cNvSpPr/>
          <p:nvPr/>
        </p:nvSpPr>
        <p:spPr>
          <a:xfrm>
            <a:off x="9326880" y="2240280"/>
            <a:ext cx="502920" cy="502920"/>
          </a:xfrm>
          <a:prstGeom prst="ellipse">
            <a:avLst/>
          </a:prstGeom>
          <a:solidFill>
            <a:srgbClr val="DBEAFE"/>
          </a:solidFill>
          <a:ln w="12700">
            <a:solidFill>
              <a:srgbClr val="DBEAFE"/>
            </a:solidFill>
            <a:prstDash val="solid"/>
          </a:ln>
        </p:spPr>
        <p:txBody>
          <a:bodyPr/>
          <a:lstStyle/>
          <a:p>
            <a:endParaRPr lang="en-US"/>
          </a:p>
        </p:txBody>
      </p:sp>
      <p:pic>
        <p:nvPicPr>
          <p:cNvPr id="27" name="Image 3" descr="preencoded.png"/>
          <p:cNvPicPr>
            <a:picLocks noChangeAspect="1"/>
          </p:cNvPicPr>
          <p:nvPr/>
        </p:nvPicPr>
        <p:blipFill>
          <a:blip r:embed="rId6"/>
          <a:stretch>
            <a:fillRect/>
          </a:stretch>
        </p:blipFill>
        <p:spPr>
          <a:xfrm>
            <a:off x="9418320" y="2331720"/>
            <a:ext cx="320040" cy="320040"/>
          </a:xfrm>
          <a:prstGeom prst="rect">
            <a:avLst/>
          </a:prstGeom>
        </p:spPr>
      </p:pic>
      <p:sp>
        <p:nvSpPr>
          <p:cNvPr id="28" name="Text 22"/>
          <p:cNvSpPr/>
          <p:nvPr/>
        </p:nvSpPr>
        <p:spPr>
          <a:xfrm>
            <a:off x="9326880" y="2880360"/>
            <a:ext cx="2240280" cy="274320"/>
          </a:xfrm>
          <a:prstGeom prst="rect">
            <a:avLst/>
          </a:prstGeom>
          <a:noFill/>
          <a:ln/>
        </p:spPr>
        <p:txBody>
          <a:bodyPr wrap="square" lIns="0" tIns="0" rIns="0" bIns="0" rtlCol="0" anchor="ctr"/>
          <a:lstStyle/>
          <a:p>
            <a:pPr marL="0" indent="0">
              <a:buNone/>
            </a:pPr>
            <a:r>
              <a:rPr lang="en-US" sz="1000" b="1" kern="0" spc="400" dirty="0">
                <a:solidFill>
                  <a:srgbClr val="2563EB"/>
                </a:solidFill>
                <a:latin typeface="Calibri" pitchFamily="34" charset="0"/>
                <a:ea typeface="Calibri" pitchFamily="34" charset="-122"/>
                <a:cs typeface="Calibri" pitchFamily="34" charset="-120"/>
              </a:rPr>
              <a:t>PHASE 4</a:t>
            </a:r>
            <a:endParaRPr lang="en-US" sz="1000" dirty="0"/>
          </a:p>
        </p:txBody>
      </p:sp>
      <p:sp>
        <p:nvSpPr>
          <p:cNvPr id="29" name="Text 23"/>
          <p:cNvSpPr/>
          <p:nvPr/>
        </p:nvSpPr>
        <p:spPr>
          <a:xfrm>
            <a:off x="9326880" y="3154680"/>
            <a:ext cx="2240280" cy="457200"/>
          </a:xfrm>
          <a:prstGeom prst="rect">
            <a:avLst/>
          </a:prstGeom>
          <a:noFill/>
          <a:ln/>
        </p:spPr>
        <p:txBody>
          <a:bodyPr wrap="square" lIns="0" tIns="0" rIns="0" bIns="0" rtlCol="0" anchor="ctr"/>
          <a:lstStyle/>
          <a:p>
            <a:pPr marL="0" indent="0">
              <a:buNone/>
            </a:pPr>
            <a:r>
              <a:rPr lang="en-US" sz="2200" b="1" dirty="0">
                <a:solidFill>
                  <a:srgbClr val="0F172A"/>
                </a:solidFill>
                <a:latin typeface="Georgia" pitchFamily="34" charset="0"/>
                <a:ea typeface="Georgia" pitchFamily="34" charset="-122"/>
                <a:cs typeface="Georgia" pitchFamily="34" charset="-120"/>
              </a:rPr>
              <a:t>Evaluate</a:t>
            </a:r>
            <a:endParaRPr lang="en-US" sz="2200" dirty="0"/>
          </a:p>
        </p:txBody>
      </p:sp>
      <p:sp>
        <p:nvSpPr>
          <p:cNvPr id="30" name="Text 24"/>
          <p:cNvSpPr/>
          <p:nvPr/>
        </p:nvSpPr>
        <p:spPr>
          <a:xfrm>
            <a:off x="9326880" y="3657600"/>
            <a:ext cx="2148840" cy="137160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Structured reports with per-competency ratings, narrative assessments, evidence quotes, and recommendations.</a:t>
            </a:r>
            <a:endParaRPr lang="en-US" sz="1400" dirty="0"/>
          </a:p>
        </p:txBody>
      </p:sp>
      <p:sp>
        <p:nvSpPr>
          <p:cNvPr id="31" name="Shape 25"/>
          <p:cNvSpPr/>
          <p:nvPr/>
        </p:nvSpPr>
        <p:spPr>
          <a:xfrm>
            <a:off x="548640" y="5486400"/>
            <a:ext cx="73152" cy="640080"/>
          </a:xfrm>
          <a:prstGeom prst="rect">
            <a:avLst/>
          </a:prstGeom>
          <a:solidFill>
            <a:srgbClr val="2563EB"/>
          </a:solidFill>
          <a:ln w="12700">
            <a:solidFill>
              <a:srgbClr val="2563EB"/>
            </a:solidFill>
            <a:prstDash val="solid"/>
          </a:ln>
        </p:spPr>
        <p:txBody>
          <a:bodyPr/>
          <a:lstStyle/>
          <a:p>
            <a:endParaRPr lang="en-US"/>
          </a:p>
        </p:txBody>
      </p:sp>
      <p:sp>
        <p:nvSpPr>
          <p:cNvPr id="32" name="Text 26"/>
          <p:cNvSpPr/>
          <p:nvPr/>
        </p:nvSpPr>
        <p:spPr>
          <a:xfrm>
            <a:off x="777240" y="5486400"/>
            <a:ext cx="10789920" cy="640080"/>
          </a:xfrm>
          <a:prstGeom prst="rect">
            <a:avLst/>
          </a:prstGeom>
          <a:noFill/>
          <a:ln/>
        </p:spPr>
        <p:txBody>
          <a:bodyPr wrap="square" lIns="0" tIns="0" rIns="0" bIns="0" rtlCol="0" anchor="ctr"/>
          <a:lstStyle/>
          <a:p>
            <a:pPr marL="0" indent="0">
              <a:buNone/>
            </a:pPr>
            <a:r>
              <a:rPr lang="en-US" sz="1400" i="1" dirty="0">
                <a:solidFill>
                  <a:srgbClr val="0F172A"/>
                </a:solidFill>
                <a:latin typeface="Calibri" pitchFamily="34" charset="0"/>
                <a:ea typeface="Calibri" pitchFamily="34" charset="-122"/>
                <a:cs typeface="Calibri" pitchFamily="34" charset="-120"/>
              </a:rPr>
              <a:t>Human involvement: ~15 minutes on Day 1. Everything else is fully automated.</a:t>
            </a:r>
            <a:endParaRPr lang="en-US" sz="1400" dirty="0"/>
          </a:p>
        </p:txBody>
      </p:sp>
      <p:sp>
        <p:nvSpPr>
          <p:cNvPr id="33" name="Text 27"/>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TALENS  ·  AI-Native Assessment Platform</a:t>
            </a:r>
            <a:endParaRPr lang="en-US" sz="900" dirty="0"/>
          </a:p>
        </p:txBody>
      </p:sp>
      <p:sp>
        <p:nvSpPr>
          <p:cNvPr id="35" name="Text 27">
            <a:extLst>
              <a:ext uri="{FF2B5EF4-FFF2-40B4-BE49-F238E27FC236}">
                <a16:creationId xmlns:a16="http://schemas.microsoft.com/office/drawing/2014/main" id="{03D1203B-9609-6084-D180-08D45417411B}"/>
              </a:ext>
            </a:extLst>
          </p:cNvPr>
          <p:cNvSpPr/>
          <p:nvPr/>
        </p:nvSpPr>
        <p:spPr>
          <a:xfrm>
            <a:off x="11109960" y="6446520"/>
            <a:ext cx="822960" cy="320040"/>
          </a:xfrm>
          <a:prstGeom prst="rect">
            <a:avLst/>
          </a:prstGeom>
          <a:noFill/>
          <a:ln/>
        </p:spPr>
        <p:txBody>
          <a:bodyPr wrap="square" lIns="0" tIns="0" rIns="0" bIns="0" rtlCol="0" anchor="ctr"/>
          <a:lstStyle/>
          <a:p>
            <a:pPr marL="0" indent="0" algn="r">
              <a:buNone/>
            </a:pPr>
            <a:fld id="{6F2FAB83-15A9-4446-A83E-37BCA0A0EBC9}" type="slidenum">
              <a:rPr lang="en-US" sz="900" smtClean="0">
                <a:solidFill>
                  <a:srgbClr val="64748B"/>
                </a:solidFill>
                <a:latin typeface="Calibri" pitchFamily="34" charset="0"/>
                <a:ea typeface="Calibri" pitchFamily="34" charset="-122"/>
                <a:cs typeface="Calibri" pitchFamily="34" charset="-120"/>
              </a:rPr>
              <a:t>3</a:t>
            </a:fld>
            <a:r>
              <a:rPr lang="en-US" sz="900" dirty="0">
                <a:solidFill>
                  <a:srgbClr val="64748B"/>
                </a:solidFill>
                <a:latin typeface="Calibri" pitchFamily="34" charset="0"/>
                <a:ea typeface="Calibri" pitchFamily="34" charset="-122"/>
                <a:cs typeface="Calibri" pitchFamily="34" charset="-120"/>
              </a:rPr>
              <a:t> </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502920"/>
            <a:ext cx="10972800" cy="274320"/>
          </a:xfrm>
          <a:prstGeom prst="rect">
            <a:avLst/>
          </a:prstGeom>
          <a:noFill/>
          <a:ln/>
        </p:spPr>
        <p:txBody>
          <a:bodyPr wrap="square" lIns="0" tIns="0" rIns="0" bIns="0" rtlCol="0" anchor="ctr"/>
          <a:lstStyle/>
          <a:p>
            <a:pPr marL="0" indent="0">
              <a:buNone/>
            </a:pPr>
            <a:r>
              <a:rPr lang="en-US" sz="1200" b="1" kern="0" cap="all" spc="400" dirty="0">
                <a:solidFill>
                  <a:srgbClr val="2563EB"/>
                </a:solidFill>
                <a:latin typeface="Calibri" pitchFamily="34" charset="0"/>
                <a:cs typeface="Calibri" pitchFamily="34" charset="-120"/>
              </a:rPr>
              <a:t>18 competencies across 9 modules</a:t>
            </a:r>
            <a:endParaRPr lang="en-US" sz="1200" cap="all" dirty="0"/>
          </a:p>
        </p:txBody>
      </p:sp>
      <p:sp>
        <p:nvSpPr>
          <p:cNvPr id="3" name="Text 1"/>
          <p:cNvSpPr/>
          <p:nvPr/>
        </p:nvSpPr>
        <p:spPr>
          <a:xfrm>
            <a:off x="548640" y="777240"/>
            <a:ext cx="10972800" cy="822960"/>
          </a:xfrm>
          <a:prstGeom prst="rect">
            <a:avLst/>
          </a:prstGeom>
          <a:noFill/>
          <a:ln/>
        </p:spPr>
        <p:txBody>
          <a:bodyPr wrap="square" lIns="0" tIns="0" rIns="0" bIns="0" rtlCol="0" anchor="ctr"/>
          <a:lstStyle/>
          <a:p>
            <a:pPr marL="0" indent="0">
              <a:buNone/>
            </a:pPr>
            <a:r>
              <a:rPr lang="en-US" sz="3400" b="1" dirty="0">
                <a:solidFill>
                  <a:srgbClr val="0F172A"/>
                </a:solidFill>
                <a:latin typeface="Georgia" pitchFamily="34" charset="0"/>
                <a:ea typeface="Georgia" pitchFamily="34" charset="-122"/>
                <a:cs typeface="Georgia" pitchFamily="34" charset="-120"/>
              </a:rPr>
              <a:t>What it measures</a:t>
            </a:r>
            <a:endParaRPr lang="en-US" sz="3400" dirty="0"/>
          </a:p>
        </p:txBody>
      </p:sp>
      <p:sp>
        <p:nvSpPr>
          <p:cNvPr id="4" name="Text 2"/>
          <p:cNvSpPr/>
          <p:nvPr/>
        </p:nvSpPr>
        <p:spPr>
          <a:xfrm>
            <a:off x="548640" y="1783080"/>
            <a:ext cx="5669280" cy="365760"/>
          </a:xfrm>
          <a:prstGeom prst="rect">
            <a:avLst/>
          </a:prstGeom>
          <a:noFill/>
          <a:ln/>
        </p:spPr>
        <p:txBody>
          <a:bodyPr wrap="square" lIns="0" tIns="0" rIns="0" bIns="0" rtlCol="0" anchor="ctr"/>
          <a:lstStyle/>
          <a:p>
            <a:pPr marL="0" indent="0">
              <a:buNone/>
            </a:pPr>
            <a:r>
              <a:rPr lang="en-US" sz="1400" b="1" dirty="0">
                <a:solidFill>
                  <a:srgbClr val="0F172A"/>
                </a:solidFill>
                <a:latin typeface="Georgia" pitchFamily="34" charset="0"/>
                <a:ea typeface="Georgia" pitchFamily="34" charset="-122"/>
                <a:cs typeface="Georgia" pitchFamily="34" charset="-120"/>
              </a:rPr>
              <a:t>Competency model — 3 pillars</a:t>
            </a:r>
            <a:endParaRPr lang="en-US" sz="1400" dirty="0"/>
          </a:p>
        </p:txBody>
      </p:sp>
      <p:sp>
        <p:nvSpPr>
          <p:cNvPr id="5" name="Shape 3"/>
          <p:cNvSpPr/>
          <p:nvPr/>
        </p:nvSpPr>
        <p:spPr>
          <a:xfrm>
            <a:off x="548640" y="2240280"/>
            <a:ext cx="5669280" cy="1005840"/>
          </a:xfrm>
          <a:prstGeom prst="rect">
            <a:avLst/>
          </a:prstGeom>
          <a:solidFill>
            <a:srgbClr val="F8FAFC"/>
          </a:solidFill>
          <a:ln w="9525">
            <a:solidFill>
              <a:srgbClr val="E2E8F0"/>
            </a:solidFill>
            <a:prstDash val="solid"/>
          </a:ln>
          <a:effectLst>
            <a:outerShdw blurRad="101600" dist="25400" dir="5400000" algn="bl" rotWithShape="0">
              <a:srgbClr val="0F172A">
                <a:alpha val="6000"/>
              </a:srgbClr>
            </a:outerShdw>
          </a:effectLst>
        </p:spPr>
        <p:txBody>
          <a:bodyPr/>
          <a:lstStyle/>
          <a:p>
            <a:endParaRPr lang="en-US"/>
          </a:p>
        </p:txBody>
      </p:sp>
      <p:sp>
        <p:nvSpPr>
          <p:cNvPr id="6" name="Shape 4"/>
          <p:cNvSpPr/>
          <p:nvPr/>
        </p:nvSpPr>
        <p:spPr>
          <a:xfrm>
            <a:off x="548640" y="2240280"/>
            <a:ext cx="73152" cy="1005840"/>
          </a:xfrm>
          <a:prstGeom prst="rect">
            <a:avLst/>
          </a:prstGeom>
          <a:solidFill>
            <a:srgbClr val="2563EB"/>
          </a:solidFill>
          <a:ln w="12700">
            <a:solidFill>
              <a:srgbClr val="2563EB"/>
            </a:solidFill>
            <a:prstDash val="solid"/>
          </a:ln>
        </p:spPr>
        <p:txBody>
          <a:bodyPr/>
          <a:lstStyle/>
          <a:p>
            <a:endParaRPr lang="en-US"/>
          </a:p>
        </p:txBody>
      </p:sp>
      <p:sp>
        <p:nvSpPr>
          <p:cNvPr id="7" name="Text 5"/>
          <p:cNvSpPr/>
          <p:nvPr/>
        </p:nvSpPr>
        <p:spPr>
          <a:xfrm>
            <a:off x="777240" y="2350008"/>
            <a:ext cx="5303520" cy="320040"/>
          </a:xfrm>
          <a:prstGeom prst="rect">
            <a:avLst/>
          </a:prstGeom>
          <a:noFill/>
          <a:ln/>
        </p:spPr>
        <p:txBody>
          <a:bodyPr wrap="square" lIns="0" tIns="0" rIns="0" bIns="0" rtlCol="0" anchor="ctr"/>
          <a:lstStyle/>
          <a:p>
            <a:pPr marL="0" indent="0">
              <a:buNone/>
            </a:pPr>
            <a:r>
              <a:rPr lang="en-US" sz="1400" b="1" dirty="0">
                <a:solidFill>
                  <a:srgbClr val="2563EB"/>
                </a:solidFill>
                <a:latin typeface="Georgia" pitchFamily="34" charset="0"/>
                <a:ea typeface="Georgia" pitchFamily="34" charset="-122"/>
                <a:cs typeface="Georgia" pitchFamily="34" charset="-120"/>
              </a:rPr>
              <a:t>Thinking</a:t>
            </a:r>
            <a:endParaRPr lang="en-US" sz="1400" dirty="0"/>
          </a:p>
        </p:txBody>
      </p:sp>
      <p:sp>
        <p:nvSpPr>
          <p:cNvPr id="8" name="Text 6"/>
          <p:cNvSpPr/>
          <p:nvPr/>
        </p:nvSpPr>
        <p:spPr>
          <a:xfrm>
            <a:off x="777240" y="2679192"/>
            <a:ext cx="4800600" cy="548640"/>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Analytical Reasoning · Strategic Thinking · Decision Quality · Systems Thinking · Critical Analysis · Learning Agility</a:t>
            </a:r>
            <a:endParaRPr lang="en-US" sz="1400" dirty="0"/>
          </a:p>
        </p:txBody>
      </p:sp>
      <p:sp>
        <p:nvSpPr>
          <p:cNvPr id="9" name="Shape 7"/>
          <p:cNvSpPr/>
          <p:nvPr/>
        </p:nvSpPr>
        <p:spPr>
          <a:xfrm>
            <a:off x="548640" y="3383280"/>
            <a:ext cx="5669280" cy="1005840"/>
          </a:xfrm>
          <a:prstGeom prst="rect">
            <a:avLst/>
          </a:prstGeom>
          <a:solidFill>
            <a:srgbClr val="F8FAFC"/>
          </a:solidFill>
          <a:ln w="9525">
            <a:solidFill>
              <a:srgbClr val="E2E8F0"/>
            </a:solidFill>
            <a:prstDash val="solid"/>
          </a:ln>
          <a:effectLst>
            <a:outerShdw blurRad="101600" dist="25400" dir="5400000" algn="bl" rotWithShape="0">
              <a:srgbClr val="0F172A">
                <a:alpha val="6000"/>
              </a:srgbClr>
            </a:outerShdw>
          </a:effectLst>
        </p:spPr>
        <p:txBody>
          <a:bodyPr/>
          <a:lstStyle/>
          <a:p>
            <a:endParaRPr lang="en-US"/>
          </a:p>
        </p:txBody>
      </p:sp>
      <p:sp>
        <p:nvSpPr>
          <p:cNvPr id="10" name="Shape 8"/>
          <p:cNvSpPr/>
          <p:nvPr/>
        </p:nvSpPr>
        <p:spPr>
          <a:xfrm>
            <a:off x="548640" y="3383280"/>
            <a:ext cx="73152" cy="1005840"/>
          </a:xfrm>
          <a:prstGeom prst="rect">
            <a:avLst/>
          </a:prstGeom>
          <a:solidFill>
            <a:srgbClr val="2563EB"/>
          </a:solidFill>
          <a:ln w="12700">
            <a:solidFill>
              <a:srgbClr val="2563EB"/>
            </a:solidFill>
            <a:prstDash val="solid"/>
          </a:ln>
        </p:spPr>
        <p:txBody>
          <a:bodyPr/>
          <a:lstStyle/>
          <a:p>
            <a:endParaRPr lang="en-US"/>
          </a:p>
        </p:txBody>
      </p:sp>
      <p:sp>
        <p:nvSpPr>
          <p:cNvPr id="11" name="Text 9"/>
          <p:cNvSpPr/>
          <p:nvPr/>
        </p:nvSpPr>
        <p:spPr>
          <a:xfrm>
            <a:off x="777240" y="3493008"/>
            <a:ext cx="5303520" cy="320040"/>
          </a:xfrm>
          <a:prstGeom prst="rect">
            <a:avLst/>
          </a:prstGeom>
          <a:noFill/>
          <a:ln/>
        </p:spPr>
        <p:txBody>
          <a:bodyPr wrap="square" lIns="0" tIns="0" rIns="0" bIns="0" rtlCol="0" anchor="ctr"/>
          <a:lstStyle/>
          <a:p>
            <a:pPr marL="0" indent="0">
              <a:buNone/>
            </a:pPr>
            <a:r>
              <a:rPr lang="en-US" sz="1400" b="1" dirty="0">
                <a:solidFill>
                  <a:srgbClr val="2563EB"/>
                </a:solidFill>
                <a:latin typeface="Georgia" pitchFamily="34" charset="0"/>
                <a:ea typeface="Georgia" pitchFamily="34" charset="-122"/>
                <a:cs typeface="Georgia" pitchFamily="34" charset="-120"/>
              </a:rPr>
              <a:t>Relating</a:t>
            </a:r>
            <a:endParaRPr lang="en-US" sz="1400" dirty="0"/>
          </a:p>
        </p:txBody>
      </p:sp>
      <p:sp>
        <p:nvSpPr>
          <p:cNvPr id="12" name="Text 10"/>
          <p:cNvSpPr/>
          <p:nvPr/>
        </p:nvSpPr>
        <p:spPr>
          <a:xfrm>
            <a:off x="777240" y="3822192"/>
            <a:ext cx="4800600" cy="548640"/>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Interpersonal Communication · Collaborative Teamwork · Conflict Resolution · Stakeholder Management · Emotional Intelligence · Influence &amp; Persuasion</a:t>
            </a:r>
            <a:endParaRPr lang="en-US" sz="1400" dirty="0"/>
          </a:p>
        </p:txBody>
      </p:sp>
      <p:sp>
        <p:nvSpPr>
          <p:cNvPr id="13" name="Shape 11"/>
          <p:cNvSpPr/>
          <p:nvPr/>
        </p:nvSpPr>
        <p:spPr>
          <a:xfrm>
            <a:off x="548640" y="4526280"/>
            <a:ext cx="5669280" cy="1005840"/>
          </a:xfrm>
          <a:prstGeom prst="rect">
            <a:avLst/>
          </a:prstGeom>
          <a:solidFill>
            <a:srgbClr val="F8FAFC"/>
          </a:solidFill>
          <a:ln w="9525">
            <a:solidFill>
              <a:srgbClr val="E2E8F0"/>
            </a:solidFill>
            <a:prstDash val="solid"/>
          </a:ln>
          <a:effectLst>
            <a:outerShdw blurRad="101600" dist="25400" dir="5400000" algn="bl" rotWithShape="0">
              <a:srgbClr val="0F172A">
                <a:alpha val="6000"/>
              </a:srgbClr>
            </a:outerShdw>
          </a:effectLst>
        </p:spPr>
        <p:txBody>
          <a:bodyPr/>
          <a:lstStyle/>
          <a:p>
            <a:endParaRPr lang="en-US"/>
          </a:p>
        </p:txBody>
      </p:sp>
      <p:sp>
        <p:nvSpPr>
          <p:cNvPr id="14" name="Shape 12"/>
          <p:cNvSpPr/>
          <p:nvPr/>
        </p:nvSpPr>
        <p:spPr>
          <a:xfrm>
            <a:off x="548640" y="4526280"/>
            <a:ext cx="73152" cy="1005840"/>
          </a:xfrm>
          <a:prstGeom prst="rect">
            <a:avLst/>
          </a:prstGeom>
          <a:solidFill>
            <a:srgbClr val="2563EB"/>
          </a:solidFill>
          <a:ln w="12700">
            <a:solidFill>
              <a:srgbClr val="2563EB"/>
            </a:solidFill>
            <a:prstDash val="solid"/>
          </a:ln>
        </p:spPr>
        <p:txBody>
          <a:bodyPr/>
          <a:lstStyle/>
          <a:p>
            <a:endParaRPr lang="en-US"/>
          </a:p>
        </p:txBody>
      </p:sp>
      <p:sp>
        <p:nvSpPr>
          <p:cNvPr id="15" name="Text 13"/>
          <p:cNvSpPr/>
          <p:nvPr/>
        </p:nvSpPr>
        <p:spPr>
          <a:xfrm>
            <a:off x="777240" y="4636008"/>
            <a:ext cx="5303520" cy="320040"/>
          </a:xfrm>
          <a:prstGeom prst="rect">
            <a:avLst/>
          </a:prstGeom>
          <a:noFill/>
          <a:ln/>
        </p:spPr>
        <p:txBody>
          <a:bodyPr wrap="square" lIns="0" tIns="0" rIns="0" bIns="0" rtlCol="0" anchor="ctr"/>
          <a:lstStyle/>
          <a:p>
            <a:pPr marL="0" indent="0">
              <a:buNone/>
            </a:pPr>
            <a:r>
              <a:rPr lang="en-US" sz="1400" b="1" dirty="0">
                <a:solidFill>
                  <a:srgbClr val="2563EB"/>
                </a:solidFill>
                <a:latin typeface="Georgia" pitchFamily="34" charset="0"/>
                <a:ea typeface="Georgia" pitchFamily="34" charset="-122"/>
                <a:cs typeface="Georgia" pitchFamily="34" charset="-120"/>
              </a:rPr>
              <a:t>Executing</a:t>
            </a:r>
            <a:endParaRPr lang="en-US" sz="1400" dirty="0"/>
          </a:p>
        </p:txBody>
      </p:sp>
      <p:sp>
        <p:nvSpPr>
          <p:cNvPr id="16" name="Text 14"/>
          <p:cNvSpPr/>
          <p:nvPr/>
        </p:nvSpPr>
        <p:spPr>
          <a:xfrm>
            <a:off x="777240" y="4965192"/>
            <a:ext cx="4800600" cy="548640"/>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Planning &amp; Organizing · Priority Management · Accountability · Proactive Initiative · Cognitive Flexibility · Resilience</a:t>
            </a:r>
            <a:endParaRPr lang="en-US" sz="1400" dirty="0"/>
          </a:p>
        </p:txBody>
      </p:sp>
      <p:sp>
        <p:nvSpPr>
          <p:cNvPr id="17" name="Text 15"/>
          <p:cNvSpPr/>
          <p:nvPr/>
        </p:nvSpPr>
        <p:spPr>
          <a:xfrm>
            <a:off x="6446520" y="1783080"/>
            <a:ext cx="5257800" cy="365760"/>
          </a:xfrm>
          <a:prstGeom prst="rect">
            <a:avLst/>
          </a:prstGeom>
          <a:noFill/>
          <a:ln/>
        </p:spPr>
        <p:txBody>
          <a:bodyPr wrap="square" lIns="0" tIns="0" rIns="0" bIns="0" rtlCol="0" anchor="ctr"/>
          <a:lstStyle/>
          <a:p>
            <a:pPr marL="0" indent="0">
              <a:buNone/>
            </a:pPr>
            <a:r>
              <a:rPr lang="en-US" sz="1400" b="1" dirty="0">
                <a:solidFill>
                  <a:srgbClr val="0F172A"/>
                </a:solidFill>
                <a:latin typeface="Georgia" pitchFamily="34" charset="0"/>
                <a:ea typeface="Georgia" pitchFamily="34" charset="-122"/>
                <a:cs typeface="Georgia" pitchFamily="34" charset="-120"/>
              </a:rPr>
              <a:t>9 modules across 3 modes</a:t>
            </a:r>
            <a:endParaRPr lang="en-US" sz="1400" dirty="0"/>
          </a:p>
        </p:txBody>
      </p:sp>
      <p:sp>
        <p:nvSpPr>
          <p:cNvPr id="18" name="Shape 16"/>
          <p:cNvSpPr/>
          <p:nvPr/>
        </p:nvSpPr>
        <p:spPr>
          <a:xfrm>
            <a:off x="6446520" y="2240280"/>
            <a:ext cx="5257800" cy="1005840"/>
          </a:xfrm>
          <a:prstGeom prst="rect">
            <a:avLst/>
          </a:prstGeom>
          <a:solidFill>
            <a:srgbClr val="F8FAFC"/>
          </a:solidFill>
          <a:ln w="9525">
            <a:solidFill>
              <a:srgbClr val="E2E8F0"/>
            </a:solidFill>
            <a:prstDash val="solid"/>
          </a:ln>
          <a:effectLst>
            <a:outerShdw blurRad="101600" dist="25400" dir="5400000" algn="bl" rotWithShape="0">
              <a:srgbClr val="0F172A">
                <a:alpha val="6000"/>
              </a:srgbClr>
            </a:outerShdw>
          </a:effectLst>
        </p:spPr>
        <p:txBody>
          <a:bodyPr/>
          <a:lstStyle/>
          <a:p>
            <a:endParaRPr lang="en-US"/>
          </a:p>
        </p:txBody>
      </p:sp>
      <p:sp>
        <p:nvSpPr>
          <p:cNvPr id="19" name="Shape 17"/>
          <p:cNvSpPr/>
          <p:nvPr/>
        </p:nvSpPr>
        <p:spPr>
          <a:xfrm>
            <a:off x="6583680" y="2487168"/>
            <a:ext cx="502920" cy="502920"/>
          </a:xfrm>
          <a:prstGeom prst="ellipse">
            <a:avLst/>
          </a:prstGeom>
          <a:solidFill>
            <a:srgbClr val="DBEAFE"/>
          </a:solidFill>
          <a:ln w="12700">
            <a:solidFill>
              <a:srgbClr val="DBEAFE"/>
            </a:solidFill>
            <a:prstDash val="solid"/>
          </a:ln>
        </p:spPr>
        <p:txBody>
          <a:bodyPr/>
          <a:lstStyle/>
          <a:p>
            <a:endParaRPr lang="en-US"/>
          </a:p>
        </p:txBody>
      </p:sp>
      <p:pic>
        <p:nvPicPr>
          <p:cNvPr id="20" name="Image 0" descr="preencoded.png"/>
          <p:cNvPicPr>
            <a:picLocks noChangeAspect="1"/>
          </p:cNvPicPr>
          <p:nvPr/>
        </p:nvPicPr>
        <p:blipFill>
          <a:blip r:embed="rId3"/>
          <a:stretch>
            <a:fillRect/>
          </a:stretch>
        </p:blipFill>
        <p:spPr>
          <a:xfrm>
            <a:off x="6675120" y="2578608"/>
            <a:ext cx="320040" cy="320040"/>
          </a:xfrm>
          <a:prstGeom prst="rect">
            <a:avLst/>
          </a:prstGeom>
        </p:spPr>
      </p:pic>
      <p:sp>
        <p:nvSpPr>
          <p:cNvPr id="21" name="Text 18"/>
          <p:cNvSpPr/>
          <p:nvPr/>
        </p:nvSpPr>
        <p:spPr>
          <a:xfrm>
            <a:off x="7178040" y="2350008"/>
            <a:ext cx="4297680" cy="320040"/>
          </a:xfrm>
          <a:prstGeom prst="rect">
            <a:avLst/>
          </a:prstGeom>
          <a:noFill/>
          <a:ln/>
        </p:spPr>
        <p:txBody>
          <a:bodyPr wrap="square" lIns="0" tIns="0" rIns="0" bIns="0" rtlCol="0" anchor="ctr"/>
          <a:lstStyle/>
          <a:p>
            <a:pPr marL="0" indent="0">
              <a:buNone/>
            </a:pPr>
            <a:r>
              <a:rPr lang="en-US" sz="1400" b="1" dirty="0">
                <a:solidFill>
                  <a:srgbClr val="0F172A"/>
                </a:solidFill>
                <a:latin typeface="Georgia" pitchFamily="34" charset="0"/>
                <a:ea typeface="Georgia" pitchFamily="34" charset="-122"/>
                <a:cs typeface="Georgia" pitchFamily="34" charset="-120"/>
              </a:rPr>
              <a:t>Conversation</a:t>
            </a:r>
            <a:endParaRPr lang="en-US" sz="1400" dirty="0"/>
          </a:p>
        </p:txBody>
      </p:sp>
      <p:sp>
        <p:nvSpPr>
          <p:cNvPr id="22" name="Text 19"/>
          <p:cNvSpPr/>
          <p:nvPr/>
        </p:nvSpPr>
        <p:spPr>
          <a:xfrm>
            <a:off x="7178040" y="2651760"/>
            <a:ext cx="4297680" cy="27432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Voice-based with AI characters</a:t>
            </a:r>
            <a:endParaRPr lang="en-US" sz="1400" dirty="0"/>
          </a:p>
        </p:txBody>
      </p:sp>
      <p:sp>
        <p:nvSpPr>
          <p:cNvPr id="23" name="Text 20"/>
          <p:cNvSpPr/>
          <p:nvPr/>
        </p:nvSpPr>
        <p:spPr>
          <a:xfrm>
            <a:off x="7178040" y="2898648"/>
            <a:ext cx="4297680" cy="320040"/>
          </a:xfrm>
          <a:prstGeom prst="rect">
            <a:avLst/>
          </a:prstGeom>
          <a:noFill/>
          <a:ln/>
        </p:spPr>
        <p:txBody>
          <a:bodyPr wrap="square" lIns="0" tIns="0" rIns="0" bIns="0" rtlCol="0" anchor="ctr"/>
          <a:lstStyle/>
          <a:p>
            <a:pPr marL="0" indent="0">
              <a:buNone/>
            </a:pPr>
            <a:r>
              <a:rPr lang="en-US" sz="1400" dirty="0">
                <a:solidFill>
                  <a:srgbClr val="2563EB"/>
                </a:solidFill>
                <a:latin typeface="Calibri" pitchFamily="34" charset="0"/>
                <a:ea typeface="Calibri" pitchFamily="34" charset="-122"/>
                <a:cs typeface="Calibri" pitchFamily="34" charset="-120"/>
              </a:rPr>
              <a:t>Behavioral Interview · Problem Dialogue · Role Play</a:t>
            </a:r>
            <a:endParaRPr lang="en-US" sz="1400" dirty="0"/>
          </a:p>
        </p:txBody>
      </p:sp>
      <p:sp>
        <p:nvSpPr>
          <p:cNvPr id="24" name="Shape 21"/>
          <p:cNvSpPr/>
          <p:nvPr/>
        </p:nvSpPr>
        <p:spPr>
          <a:xfrm>
            <a:off x="6446520" y="3383280"/>
            <a:ext cx="5257800" cy="1005840"/>
          </a:xfrm>
          <a:prstGeom prst="rect">
            <a:avLst/>
          </a:prstGeom>
          <a:solidFill>
            <a:srgbClr val="F8FAFC"/>
          </a:solidFill>
          <a:ln w="9525">
            <a:solidFill>
              <a:srgbClr val="E2E8F0"/>
            </a:solidFill>
            <a:prstDash val="solid"/>
          </a:ln>
          <a:effectLst>
            <a:outerShdw blurRad="101600" dist="25400" dir="5400000" algn="bl" rotWithShape="0">
              <a:srgbClr val="0F172A">
                <a:alpha val="6000"/>
              </a:srgbClr>
            </a:outerShdw>
          </a:effectLst>
        </p:spPr>
        <p:txBody>
          <a:bodyPr/>
          <a:lstStyle/>
          <a:p>
            <a:endParaRPr lang="en-US"/>
          </a:p>
        </p:txBody>
      </p:sp>
      <p:sp>
        <p:nvSpPr>
          <p:cNvPr id="25" name="Shape 22"/>
          <p:cNvSpPr/>
          <p:nvPr/>
        </p:nvSpPr>
        <p:spPr>
          <a:xfrm>
            <a:off x="6583680" y="3630168"/>
            <a:ext cx="502920" cy="502920"/>
          </a:xfrm>
          <a:prstGeom prst="ellipse">
            <a:avLst/>
          </a:prstGeom>
          <a:solidFill>
            <a:srgbClr val="DBEAFE"/>
          </a:solidFill>
          <a:ln w="12700">
            <a:solidFill>
              <a:srgbClr val="DBEAFE"/>
            </a:solidFill>
            <a:prstDash val="solid"/>
          </a:ln>
        </p:spPr>
        <p:txBody>
          <a:bodyPr/>
          <a:lstStyle/>
          <a:p>
            <a:endParaRPr lang="en-US"/>
          </a:p>
        </p:txBody>
      </p:sp>
      <p:pic>
        <p:nvPicPr>
          <p:cNvPr id="26" name="Image 1" descr="preencoded.png"/>
          <p:cNvPicPr>
            <a:picLocks noChangeAspect="1"/>
          </p:cNvPicPr>
          <p:nvPr/>
        </p:nvPicPr>
        <p:blipFill>
          <a:blip r:embed="rId4"/>
          <a:stretch>
            <a:fillRect/>
          </a:stretch>
        </p:blipFill>
        <p:spPr>
          <a:xfrm>
            <a:off x="6675120" y="3721608"/>
            <a:ext cx="320040" cy="320040"/>
          </a:xfrm>
          <a:prstGeom prst="rect">
            <a:avLst/>
          </a:prstGeom>
        </p:spPr>
      </p:pic>
      <p:sp>
        <p:nvSpPr>
          <p:cNvPr id="27" name="Text 23"/>
          <p:cNvSpPr/>
          <p:nvPr/>
        </p:nvSpPr>
        <p:spPr>
          <a:xfrm>
            <a:off x="7178040" y="3493008"/>
            <a:ext cx="4297680" cy="320040"/>
          </a:xfrm>
          <a:prstGeom prst="rect">
            <a:avLst/>
          </a:prstGeom>
          <a:noFill/>
          <a:ln/>
        </p:spPr>
        <p:txBody>
          <a:bodyPr wrap="square" lIns="0" tIns="0" rIns="0" bIns="0" rtlCol="0" anchor="ctr"/>
          <a:lstStyle/>
          <a:p>
            <a:pPr marL="0" indent="0">
              <a:buNone/>
            </a:pPr>
            <a:r>
              <a:rPr lang="en-US" sz="1400" b="1" dirty="0">
                <a:solidFill>
                  <a:srgbClr val="0F172A"/>
                </a:solidFill>
                <a:latin typeface="Georgia" pitchFamily="34" charset="0"/>
                <a:ea typeface="Georgia" pitchFamily="34" charset="-122"/>
                <a:cs typeface="Georgia" pitchFamily="34" charset="-120"/>
              </a:rPr>
              <a:t>Messaging</a:t>
            </a:r>
            <a:endParaRPr lang="en-US" sz="1400" dirty="0"/>
          </a:p>
        </p:txBody>
      </p:sp>
      <p:sp>
        <p:nvSpPr>
          <p:cNvPr id="28" name="Text 24"/>
          <p:cNvSpPr/>
          <p:nvPr/>
        </p:nvSpPr>
        <p:spPr>
          <a:xfrm>
            <a:off x="7178040" y="3794760"/>
            <a:ext cx="4297680" cy="27432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Multi-thread text chat under pressure</a:t>
            </a:r>
            <a:endParaRPr lang="en-US" sz="1400" dirty="0"/>
          </a:p>
        </p:txBody>
      </p:sp>
      <p:sp>
        <p:nvSpPr>
          <p:cNvPr id="29" name="Text 25"/>
          <p:cNvSpPr/>
          <p:nvPr/>
        </p:nvSpPr>
        <p:spPr>
          <a:xfrm>
            <a:off x="7178040" y="4041648"/>
            <a:ext cx="4297680" cy="320040"/>
          </a:xfrm>
          <a:prstGeom prst="rect">
            <a:avLst/>
          </a:prstGeom>
          <a:noFill/>
          <a:ln/>
        </p:spPr>
        <p:txBody>
          <a:bodyPr wrap="square" lIns="0" tIns="0" rIns="0" bIns="0" rtlCol="0" anchor="ctr"/>
          <a:lstStyle/>
          <a:p>
            <a:pPr marL="0" indent="0">
              <a:buNone/>
            </a:pPr>
            <a:r>
              <a:rPr lang="en-US" sz="1400" dirty="0">
                <a:solidFill>
                  <a:srgbClr val="2563EB"/>
                </a:solidFill>
                <a:latin typeface="Calibri" pitchFamily="34" charset="0"/>
                <a:ea typeface="Calibri" pitchFamily="34" charset="-122"/>
                <a:cs typeface="Calibri" pitchFamily="34" charset="-120"/>
              </a:rPr>
              <a:t>Team Dynamics · Priority Triage · Operational Coordination</a:t>
            </a:r>
            <a:endParaRPr lang="en-US" sz="1400" dirty="0"/>
          </a:p>
        </p:txBody>
      </p:sp>
      <p:sp>
        <p:nvSpPr>
          <p:cNvPr id="30" name="Shape 26"/>
          <p:cNvSpPr/>
          <p:nvPr/>
        </p:nvSpPr>
        <p:spPr>
          <a:xfrm>
            <a:off x="6446520" y="4526280"/>
            <a:ext cx="5257800" cy="1005840"/>
          </a:xfrm>
          <a:prstGeom prst="rect">
            <a:avLst/>
          </a:prstGeom>
          <a:solidFill>
            <a:srgbClr val="F8FAFC"/>
          </a:solidFill>
          <a:ln w="9525">
            <a:solidFill>
              <a:srgbClr val="E2E8F0"/>
            </a:solidFill>
            <a:prstDash val="solid"/>
          </a:ln>
          <a:effectLst>
            <a:outerShdw blurRad="101600" dist="25400" dir="5400000" algn="bl" rotWithShape="0">
              <a:srgbClr val="0F172A">
                <a:alpha val="6000"/>
              </a:srgbClr>
            </a:outerShdw>
          </a:effectLst>
        </p:spPr>
        <p:txBody>
          <a:bodyPr/>
          <a:lstStyle/>
          <a:p>
            <a:endParaRPr lang="en-US"/>
          </a:p>
        </p:txBody>
      </p:sp>
      <p:sp>
        <p:nvSpPr>
          <p:cNvPr id="31" name="Shape 27"/>
          <p:cNvSpPr/>
          <p:nvPr/>
        </p:nvSpPr>
        <p:spPr>
          <a:xfrm>
            <a:off x="6583680" y="4773168"/>
            <a:ext cx="502920" cy="502920"/>
          </a:xfrm>
          <a:prstGeom prst="ellipse">
            <a:avLst/>
          </a:prstGeom>
          <a:solidFill>
            <a:srgbClr val="DBEAFE"/>
          </a:solidFill>
          <a:ln w="12700">
            <a:solidFill>
              <a:srgbClr val="DBEAFE"/>
            </a:solidFill>
            <a:prstDash val="solid"/>
          </a:ln>
        </p:spPr>
        <p:txBody>
          <a:bodyPr/>
          <a:lstStyle/>
          <a:p>
            <a:endParaRPr lang="en-US"/>
          </a:p>
        </p:txBody>
      </p:sp>
      <p:pic>
        <p:nvPicPr>
          <p:cNvPr id="32" name="Image 2" descr="preencoded.png"/>
          <p:cNvPicPr>
            <a:picLocks noChangeAspect="1"/>
          </p:cNvPicPr>
          <p:nvPr/>
        </p:nvPicPr>
        <p:blipFill>
          <a:blip r:embed="rId5"/>
          <a:stretch>
            <a:fillRect/>
          </a:stretch>
        </p:blipFill>
        <p:spPr>
          <a:xfrm>
            <a:off x="6675120" y="4864608"/>
            <a:ext cx="320040" cy="320040"/>
          </a:xfrm>
          <a:prstGeom prst="rect">
            <a:avLst/>
          </a:prstGeom>
        </p:spPr>
      </p:pic>
      <p:sp>
        <p:nvSpPr>
          <p:cNvPr id="33" name="Text 28"/>
          <p:cNvSpPr/>
          <p:nvPr/>
        </p:nvSpPr>
        <p:spPr>
          <a:xfrm>
            <a:off x="7178040" y="4636008"/>
            <a:ext cx="4297680" cy="320040"/>
          </a:xfrm>
          <a:prstGeom prst="rect">
            <a:avLst/>
          </a:prstGeom>
          <a:noFill/>
          <a:ln/>
        </p:spPr>
        <p:txBody>
          <a:bodyPr wrap="square" lIns="0" tIns="0" rIns="0" bIns="0" rtlCol="0" anchor="ctr"/>
          <a:lstStyle/>
          <a:p>
            <a:pPr marL="0" indent="0">
              <a:buNone/>
            </a:pPr>
            <a:r>
              <a:rPr lang="en-US" sz="1400" b="1" dirty="0">
                <a:solidFill>
                  <a:srgbClr val="0F172A"/>
                </a:solidFill>
                <a:latin typeface="Georgia" pitchFamily="34" charset="0"/>
                <a:ea typeface="Georgia" pitchFamily="34" charset="-122"/>
                <a:cs typeface="Georgia" pitchFamily="34" charset="-120"/>
              </a:rPr>
              <a:t>Reasoning</a:t>
            </a:r>
            <a:endParaRPr lang="en-US" sz="1400" dirty="0"/>
          </a:p>
        </p:txBody>
      </p:sp>
      <p:sp>
        <p:nvSpPr>
          <p:cNvPr id="34" name="Text 29"/>
          <p:cNvSpPr/>
          <p:nvPr/>
        </p:nvSpPr>
        <p:spPr>
          <a:xfrm>
            <a:off x="7178040" y="4937760"/>
            <a:ext cx="4297680" cy="27432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Structured multi-phase written tasks</a:t>
            </a:r>
            <a:endParaRPr lang="en-US" sz="1400" dirty="0"/>
          </a:p>
        </p:txBody>
      </p:sp>
      <p:sp>
        <p:nvSpPr>
          <p:cNvPr id="35" name="Text 30"/>
          <p:cNvSpPr/>
          <p:nvPr/>
        </p:nvSpPr>
        <p:spPr>
          <a:xfrm>
            <a:off x="7178040" y="5184648"/>
            <a:ext cx="4297680" cy="320040"/>
          </a:xfrm>
          <a:prstGeom prst="rect">
            <a:avLst/>
          </a:prstGeom>
          <a:noFill/>
          <a:ln/>
        </p:spPr>
        <p:txBody>
          <a:bodyPr wrap="square" lIns="0" tIns="0" rIns="0" bIns="0" rtlCol="0" anchor="ctr"/>
          <a:lstStyle/>
          <a:p>
            <a:pPr marL="0" indent="0">
              <a:buNone/>
            </a:pPr>
            <a:r>
              <a:rPr lang="en-US" sz="1400" dirty="0">
                <a:solidFill>
                  <a:srgbClr val="2563EB"/>
                </a:solidFill>
                <a:latin typeface="Calibri" pitchFamily="34" charset="0"/>
                <a:ea typeface="Calibri" pitchFamily="34" charset="-122"/>
                <a:cs typeface="Calibri" pitchFamily="34" charset="-120"/>
              </a:rPr>
              <a:t>Decision Canvas · Critical Analysis · Systems Thinking</a:t>
            </a:r>
            <a:endParaRPr lang="en-US" sz="1400" dirty="0"/>
          </a:p>
        </p:txBody>
      </p:sp>
      <p:sp>
        <p:nvSpPr>
          <p:cNvPr id="36" name="Shape 31"/>
          <p:cNvSpPr/>
          <p:nvPr/>
        </p:nvSpPr>
        <p:spPr>
          <a:xfrm>
            <a:off x="548640" y="5852160"/>
            <a:ext cx="11155680" cy="457200"/>
          </a:xfrm>
          <a:prstGeom prst="rect">
            <a:avLst/>
          </a:prstGeom>
          <a:solidFill>
            <a:srgbClr val="DBEAFE"/>
          </a:solidFill>
          <a:ln w="12700">
            <a:solidFill>
              <a:srgbClr val="DBEAFE"/>
            </a:solidFill>
            <a:prstDash val="solid"/>
          </a:ln>
        </p:spPr>
        <p:txBody>
          <a:bodyPr/>
          <a:lstStyle/>
          <a:p>
            <a:endParaRPr lang="en-US"/>
          </a:p>
        </p:txBody>
      </p:sp>
      <p:sp>
        <p:nvSpPr>
          <p:cNvPr id="37" name="Text 32"/>
          <p:cNvSpPr/>
          <p:nvPr/>
        </p:nvSpPr>
        <p:spPr>
          <a:xfrm>
            <a:off x="777240" y="5852160"/>
            <a:ext cx="10789920" cy="457200"/>
          </a:xfrm>
          <a:prstGeom prst="rect">
            <a:avLst/>
          </a:prstGeom>
          <a:noFill/>
          <a:ln/>
        </p:spPr>
        <p:txBody>
          <a:bodyPr wrap="square" lIns="0" tIns="0" rIns="0" bIns="0" rtlCol="0" anchor="ctr"/>
          <a:lstStyle/>
          <a:p>
            <a:pPr marL="0" indent="0">
              <a:buNone/>
            </a:pPr>
            <a:r>
              <a:rPr lang="en-US" sz="1100" dirty="0">
                <a:solidFill>
                  <a:srgbClr val="0F172A"/>
                </a:solidFill>
                <a:latin typeface="Calibri" pitchFamily="34" charset="0"/>
                <a:ea typeface="Calibri" pitchFamily="34" charset="-122"/>
                <a:cs typeface="Calibri" pitchFamily="34" charset="-120"/>
              </a:rPr>
              <a:t>Enables a cross-module competency matrix — measure the same competency across multiple interaction modes.</a:t>
            </a:r>
            <a:endParaRPr lang="en-US" sz="1100" dirty="0"/>
          </a:p>
        </p:txBody>
      </p:sp>
      <p:sp>
        <p:nvSpPr>
          <p:cNvPr id="38" name="Text 33"/>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TALENS  ·  AI-Native Assessment Platform</a:t>
            </a:r>
            <a:endParaRPr lang="en-US" sz="900" dirty="0"/>
          </a:p>
        </p:txBody>
      </p:sp>
      <p:sp>
        <p:nvSpPr>
          <p:cNvPr id="40" name="Text 27">
            <a:extLst>
              <a:ext uri="{FF2B5EF4-FFF2-40B4-BE49-F238E27FC236}">
                <a16:creationId xmlns:a16="http://schemas.microsoft.com/office/drawing/2014/main" id="{9C7862DF-C74A-3277-26ED-CBE9E3CA6905}"/>
              </a:ext>
            </a:extLst>
          </p:cNvPr>
          <p:cNvSpPr/>
          <p:nvPr/>
        </p:nvSpPr>
        <p:spPr>
          <a:xfrm>
            <a:off x="11064240" y="6442364"/>
            <a:ext cx="822960" cy="274320"/>
          </a:xfrm>
          <a:prstGeom prst="rect">
            <a:avLst/>
          </a:prstGeom>
          <a:noFill/>
          <a:ln/>
        </p:spPr>
        <p:txBody>
          <a:bodyPr wrap="square" lIns="0" tIns="0" rIns="0" bIns="0" rtlCol="0" anchor="ctr"/>
          <a:lstStyle/>
          <a:p>
            <a:pPr marL="0" indent="0" algn="r">
              <a:buNone/>
            </a:pPr>
            <a:fld id="{6F2FAB83-15A9-4446-A83E-37BCA0A0EBC9}" type="slidenum">
              <a:rPr lang="en-US" sz="900" smtClean="0">
                <a:solidFill>
                  <a:srgbClr val="64748B"/>
                </a:solidFill>
                <a:latin typeface="Calibri" pitchFamily="34" charset="0"/>
                <a:ea typeface="Calibri" pitchFamily="34" charset="-122"/>
                <a:cs typeface="Calibri" pitchFamily="34" charset="-120"/>
              </a:rPr>
              <a:t>4</a:t>
            </a:fld>
            <a:r>
              <a:rPr lang="en-US" sz="900" dirty="0">
                <a:solidFill>
                  <a:srgbClr val="64748B"/>
                </a:solidFill>
                <a:latin typeface="Calibri" pitchFamily="34" charset="0"/>
                <a:ea typeface="Calibri" pitchFamily="34" charset="-122"/>
                <a:cs typeface="Calibri" pitchFamily="34" charset="-120"/>
              </a:rPr>
              <a:t> </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502920"/>
            <a:ext cx="10972800" cy="274320"/>
          </a:xfrm>
          <a:prstGeom prst="rect">
            <a:avLst/>
          </a:prstGeom>
          <a:noFill/>
          <a:ln/>
        </p:spPr>
        <p:txBody>
          <a:bodyPr wrap="square" lIns="0" tIns="0" rIns="0" bIns="0" rtlCol="0" anchor="ctr"/>
          <a:lstStyle/>
          <a:p>
            <a:pPr marL="0" indent="0">
              <a:buNone/>
            </a:pPr>
            <a:r>
              <a:rPr lang="en-US" sz="1200" b="1" kern="0" spc="400" dirty="0">
                <a:solidFill>
                  <a:srgbClr val="2563EB"/>
                </a:solidFill>
                <a:latin typeface="Calibri" pitchFamily="34" charset="0"/>
                <a:ea typeface="Calibri" pitchFamily="34" charset="-122"/>
                <a:cs typeface="Calibri" pitchFamily="34" charset="-120"/>
              </a:rPr>
              <a:t>WHAT SETS IT APART</a:t>
            </a:r>
            <a:endParaRPr lang="en-US" sz="1200" dirty="0"/>
          </a:p>
        </p:txBody>
      </p:sp>
      <p:sp>
        <p:nvSpPr>
          <p:cNvPr id="3" name="Text 1"/>
          <p:cNvSpPr/>
          <p:nvPr/>
        </p:nvSpPr>
        <p:spPr>
          <a:xfrm>
            <a:off x="548640" y="777240"/>
            <a:ext cx="10972800" cy="822960"/>
          </a:xfrm>
          <a:prstGeom prst="rect">
            <a:avLst/>
          </a:prstGeom>
          <a:noFill/>
          <a:ln/>
        </p:spPr>
        <p:txBody>
          <a:bodyPr wrap="square" lIns="0" tIns="0" rIns="0" bIns="0" rtlCol="0" anchor="ctr"/>
          <a:lstStyle/>
          <a:p>
            <a:pPr marL="0" indent="0">
              <a:buNone/>
            </a:pPr>
            <a:r>
              <a:rPr lang="en-US" sz="3400" b="1" dirty="0">
                <a:solidFill>
                  <a:srgbClr val="0F172A"/>
                </a:solidFill>
                <a:latin typeface="Georgia" pitchFamily="34" charset="0"/>
                <a:ea typeface="Georgia" pitchFamily="34" charset="-122"/>
                <a:cs typeface="Georgia" pitchFamily="34" charset="-120"/>
              </a:rPr>
              <a:t>Unique, adaptive, evidence-based</a:t>
            </a:r>
            <a:endParaRPr lang="en-US" sz="3400" dirty="0"/>
          </a:p>
        </p:txBody>
      </p:sp>
      <p:sp>
        <p:nvSpPr>
          <p:cNvPr id="4" name="Shape 2"/>
          <p:cNvSpPr/>
          <p:nvPr/>
        </p:nvSpPr>
        <p:spPr>
          <a:xfrm>
            <a:off x="548640" y="1828800"/>
            <a:ext cx="3291840" cy="1691640"/>
          </a:xfrm>
          <a:prstGeom prst="rect">
            <a:avLst/>
          </a:prstGeom>
          <a:solidFill>
            <a:srgbClr val="F8FAFC"/>
          </a:solidFill>
          <a:ln w="9525">
            <a:solidFill>
              <a:srgbClr val="E2E8F0"/>
            </a:solidFill>
            <a:prstDash val="solid"/>
          </a:ln>
          <a:effectLst>
            <a:outerShdw blurRad="101600" dist="25400" dir="5400000" algn="bl" rotWithShape="0">
              <a:srgbClr val="0F172A">
                <a:alpha val="6000"/>
              </a:srgbClr>
            </a:outerShdw>
          </a:effectLst>
        </p:spPr>
        <p:txBody>
          <a:bodyPr/>
          <a:lstStyle/>
          <a:p>
            <a:endParaRPr lang="en-US"/>
          </a:p>
        </p:txBody>
      </p:sp>
      <p:sp>
        <p:nvSpPr>
          <p:cNvPr id="5" name="Shape 3"/>
          <p:cNvSpPr/>
          <p:nvPr/>
        </p:nvSpPr>
        <p:spPr>
          <a:xfrm>
            <a:off x="777240" y="2057400"/>
            <a:ext cx="502920" cy="502920"/>
          </a:xfrm>
          <a:prstGeom prst="ellipse">
            <a:avLst/>
          </a:prstGeom>
          <a:solidFill>
            <a:srgbClr val="DBEAFE"/>
          </a:solidFill>
          <a:ln w="12700">
            <a:solidFill>
              <a:srgbClr val="DBEAFE"/>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68680" y="2148840"/>
            <a:ext cx="320040" cy="320040"/>
          </a:xfrm>
          <a:prstGeom prst="rect">
            <a:avLst/>
          </a:prstGeom>
        </p:spPr>
      </p:pic>
      <p:sp>
        <p:nvSpPr>
          <p:cNvPr id="7" name="Text 4"/>
          <p:cNvSpPr/>
          <p:nvPr/>
        </p:nvSpPr>
        <p:spPr>
          <a:xfrm>
            <a:off x="1417320" y="2029968"/>
            <a:ext cx="2286000" cy="365760"/>
          </a:xfrm>
          <a:prstGeom prst="rect">
            <a:avLst/>
          </a:prstGeom>
          <a:noFill/>
          <a:ln/>
        </p:spPr>
        <p:txBody>
          <a:bodyPr wrap="square" lIns="0" tIns="0" rIns="0" bIns="0" rtlCol="0" anchor="ctr"/>
          <a:lstStyle/>
          <a:p>
            <a:pPr marL="0" indent="0">
              <a:buNone/>
            </a:pPr>
            <a:r>
              <a:rPr lang="en-US" sz="1400" b="1" dirty="0">
                <a:solidFill>
                  <a:srgbClr val="0F172A"/>
                </a:solidFill>
                <a:latin typeface="Georgia" pitchFamily="34" charset="0"/>
                <a:ea typeface="Georgia" pitchFamily="34" charset="-122"/>
                <a:cs typeface="Georgia" pitchFamily="34" charset="-120"/>
              </a:rPr>
              <a:t>Unique, contextual</a:t>
            </a:r>
            <a:endParaRPr lang="en-US" sz="1400" dirty="0"/>
          </a:p>
        </p:txBody>
      </p:sp>
      <p:sp>
        <p:nvSpPr>
          <p:cNvPr id="8" name="Text 5"/>
          <p:cNvSpPr/>
          <p:nvPr/>
        </p:nvSpPr>
        <p:spPr>
          <a:xfrm>
            <a:off x="777240" y="2606040"/>
            <a:ext cx="2834640" cy="868680"/>
          </a:xfrm>
          <a:prstGeom prst="rect">
            <a:avLst/>
          </a:prstGeom>
          <a:noFill/>
          <a:ln/>
        </p:spPr>
        <p:txBody>
          <a:bodyPr wrap="square" lIns="0" tIns="0" rIns="0" bIns="0" rtlCol="0" anchor="ctr"/>
          <a:lstStyle/>
          <a:p>
            <a:pPr marL="0" indent="0">
              <a:buNone/>
            </a:pPr>
            <a:r>
              <a:rPr lang="en-US" sz="1200" dirty="0">
                <a:latin typeface="Calibri" pitchFamily="34" charset="0"/>
                <a:ea typeface="Calibri" pitchFamily="34" charset="-122"/>
                <a:cs typeface="Calibri" pitchFamily="34" charset="-120"/>
              </a:rPr>
              <a:t>A Senior PM in fintech and one in healthcare get different scenarios — same competency, different manifestation.</a:t>
            </a:r>
            <a:endParaRPr lang="en-US" sz="1200" dirty="0"/>
          </a:p>
        </p:txBody>
      </p:sp>
      <p:sp>
        <p:nvSpPr>
          <p:cNvPr id="9" name="Shape 6"/>
          <p:cNvSpPr/>
          <p:nvPr/>
        </p:nvSpPr>
        <p:spPr>
          <a:xfrm>
            <a:off x="4023360" y="1828800"/>
            <a:ext cx="3291840" cy="1691640"/>
          </a:xfrm>
          <a:prstGeom prst="rect">
            <a:avLst/>
          </a:prstGeom>
          <a:solidFill>
            <a:srgbClr val="F8FAFC"/>
          </a:solidFill>
          <a:ln w="9525">
            <a:solidFill>
              <a:srgbClr val="E2E8F0"/>
            </a:solidFill>
            <a:prstDash val="solid"/>
          </a:ln>
          <a:effectLst>
            <a:outerShdw blurRad="101600" dist="25400" dir="5400000" algn="bl" rotWithShape="0">
              <a:srgbClr val="0F172A">
                <a:alpha val="6000"/>
              </a:srgbClr>
            </a:outerShdw>
          </a:effectLst>
        </p:spPr>
        <p:txBody>
          <a:bodyPr/>
          <a:lstStyle/>
          <a:p>
            <a:endParaRPr lang="en-US"/>
          </a:p>
        </p:txBody>
      </p:sp>
      <p:sp>
        <p:nvSpPr>
          <p:cNvPr id="10" name="Shape 7"/>
          <p:cNvSpPr/>
          <p:nvPr/>
        </p:nvSpPr>
        <p:spPr>
          <a:xfrm>
            <a:off x="4251960" y="2057400"/>
            <a:ext cx="502920" cy="502920"/>
          </a:xfrm>
          <a:prstGeom prst="ellipse">
            <a:avLst/>
          </a:prstGeom>
          <a:solidFill>
            <a:srgbClr val="DBEAFE"/>
          </a:solidFill>
          <a:ln w="12700">
            <a:solidFill>
              <a:srgbClr val="DBEAFE"/>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4343400" y="2148840"/>
            <a:ext cx="320040" cy="320040"/>
          </a:xfrm>
          <a:prstGeom prst="rect">
            <a:avLst/>
          </a:prstGeom>
        </p:spPr>
      </p:pic>
      <p:sp>
        <p:nvSpPr>
          <p:cNvPr id="12" name="Text 8"/>
          <p:cNvSpPr/>
          <p:nvPr/>
        </p:nvSpPr>
        <p:spPr>
          <a:xfrm>
            <a:off x="4892040" y="2029968"/>
            <a:ext cx="2286000" cy="365760"/>
          </a:xfrm>
          <a:prstGeom prst="rect">
            <a:avLst/>
          </a:prstGeom>
          <a:noFill/>
          <a:ln/>
        </p:spPr>
        <p:txBody>
          <a:bodyPr wrap="square" lIns="0" tIns="0" rIns="0" bIns="0" rtlCol="0" anchor="ctr"/>
          <a:lstStyle/>
          <a:p>
            <a:pPr marL="0" indent="0">
              <a:buNone/>
            </a:pPr>
            <a:r>
              <a:rPr lang="en-US" sz="1400" b="1" dirty="0">
                <a:solidFill>
                  <a:srgbClr val="0F172A"/>
                </a:solidFill>
                <a:latin typeface="Georgia" pitchFamily="34" charset="0"/>
                <a:ea typeface="Georgia" pitchFamily="34" charset="-122"/>
                <a:cs typeface="Georgia" pitchFamily="34" charset="-120"/>
              </a:rPr>
              <a:t>Real-time adaptation</a:t>
            </a:r>
            <a:endParaRPr lang="en-US" sz="1400" dirty="0"/>
          </a:p>
        </p:txBody>
      </p:sp>
      <p:sp>
        <p:nvSpPr>
          <p:cNvPr id="13" name="Text 9"/>
          <p:cNvSpPr/>
          <p:nvPr/>
        </p:nvSpPr>
        <p:spPr>
          <a:xfrm>
            <a:off x="4251960" y="2606040"/>
            <a:ext cx="2834640" cy="868680"/>
          </a:xfrm>
          <a:prstGeom prst="rect">
            <a:avLst/>
          </a:prstGeom>
          <a:noFill/>
          <a:ln/>
        </p:spPr>
        <p:txBody>
          <a:bodyPr wrap="square" lIns="0" tIns="0" rIns="0" bIns="0" rtlCol="0" anchor="ctr"/>
          <a:lstStyle/>
          <a:p>
            <a:pPr marL="0" indent="0">
              <a:buNone/>
            </a:pPr>
            <a:r>
              <a:rPr lang="en-US" sz="1200" dirty="0">
                <a:latin typeface="Calibri" pitchFamily="34" charset="0"/>
                <a:ea typeface="Calibri" pitchFamily="34" charset="-122"/>
                <a:cs typeface="Calibri" pitchFamily="34" charset="-120"/>
              </a:rPr>
              <a:t>Vague answer? Probes deeper. Exceptional depth? Escalates complexity. As deep as the candidate allows.</a:t>
            </a:r>
            <a:endParaRPr lang="en-US" sz="1200" dirty="0"/>
          </a:p>
        </p:txBody>
      </p:sp>
      <p:sp>
        <p:nvSpPr>
          <p:cNvPr id="14" name="Shape 10"/>
          <p:cNvSpPr/>
          <p:nvPr/>
        </p:nvSpPr>
        <p:spPr>
          <a:xfrm>
            <a:off x="548640" y="3703320"/>
            <a:ext cx="3291840" cy="1691640"/>
          </a:xfrm>
          <a:prstGeom prst="rect">
            <a:avLst/>
          </a:prstGeom>
          <a:solidFill>
            <a:srgbClr val="F8FAFC"/>
          </a:solidFill>
          <a:ln w="9525">
            <a:solidFill>
              <a:srgbClr val="E2E8F0"/>
            </a:solidFill>
            <a:prstDash val="solid"/>
          </a:ln>
          <a:effectLst>
            <a:outerShdw blurRad="101600" dist="25400" dir="5400000" algn="bl" rotWithShape="0">
              <a:srgbClr val="0F172A">
                <a:alpha val="6000"/>
              </a:srgbClr>
            </a:outerShdw>
          </a:effectLst>
        </p:spPr>
        <p:txBody>
          <a:bodyPr/>
          <a:lstStyle/>
          <a:p>
            <a:endParaRPr lang="en-US"/>
          </a:p>
        </p:txBody>
      </p:sp>
      <p:sp>
        <p:nvSpPr>
          <p:cNvPr id="15" name="Shape 11"/>
          <p:cNvSpPr/>
          <p:nvPr/>
        </p:nvSpPr>
        <p:spPr>
          <a:xfrm>
            <a:off x="777240" y="3931920"/>
            <a:ext cx="502920" cy="502920"/>
          </a:xfrm>
          <a:prstGeom prst="ellipse">
            <a:avLst/>
          </a:prstGeom>
          <a:solidFill>
            <a:srgbClr val="DBEAFE"/>
          </a:solidFill>
          <a:ln w="12700">
            <a:solidFill>
              <a:srgbClr val="DBEAFE"/>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868680" y="4023360"/>
            <a:ext cx="320040" cy="320040"/>
          </a:xfrm>
          <a:prstGeom prst="rect">
            <a:avLst/>
          </a:prstGeom>
        </p:spPr>
      </p:pic>
      <p:sp>
        <p:nvSpPr>
          <p:cNvPr id="17" name="Text 12"/>
          <p:cNvSpPr/>
          <p:nvPr/>
        </p:nvSpPr>
        <p:spPr>
          <a:xfrm>
            <a:off x="1417320" y="3904488"/>
            <a:ext cx="2286000" cy="365760"/>
          </a:xfrm>
          <a:prstGeom prst="rect">
            <a:avLst/>
          </a:prstGeom>
          <a:noFill/>
          <a:ln/>
        </p:spPr>
        <p:txBody>
          <a:bodyPr wrap="square" lIns="0" tIns="0" rIns="0" bIns="0" rtlCol="0" anchor="ctr"/>
          <a:lstStyle/>
          <a:p>
            <a:pPr marL="0" indent="0">
              <a:buNone/>
            </a:pPr>
            <a:r>
              <a:rPr lang="en-US" sz="1400" b="1" dirty="0">
                <a:solidFill>
                  <a:srgbClr val="0F172A"/>
                </a:solidFill>
                <a:latin typeface="Georgia" pitchFamily="34" charset="0"/>
                <a:ea typeface="Georgia" pitchFamily="34" charset="-122"/>
                <a:cs typeface="Georgia" pitchFamily="34" charset="-120"/>
              </a:rPr>
              <a:t>Evidence-based</a:t>
            </a:r>
            <a:endParaRPr lang="en-US" sz="1400" dirty="0"/>
          </a:p>
        </p:txBody>
      </p:sp>
      <p:sp>
        <p:nvSpPr>
          <p:cNvPr id="18" name="Text 13"/>
          <p:cNvSpPr/>
          <p:nvPr/>
        </p:nvSpPr>
        <p:spPr>
          <a:xfrm>
            <a:off x="777240" y="4480560"/>
            <a:ext cx="2834640" cy="868680"/>
          </a:xfrm>
          <a:prstGeom prst="rect">
            <a:avLst/>
          </a:prstGeom>
          <a:noFill/>
          <a:ln/>
        </p:spPr>
        <p:txBody>
          <a:bodyPr wrap="square" lIns="0" tIns="0" rIns="0" bIns="0" rtlCol="0" anchor="ctr"/>
          <a:lstStyle/>
          <a:p>
            <a:pPr marL="0" indent="0">
              <a:buNone/>
            </a:pPr>
            <a:r>
              <a:rPr lang="en-US" sz="1200" dirty="0">
                <a:latin typeface="Calibri" pitchFamily="34" charset="0"/>
                <a:ea typeface="Calibri" pitchFamily="34" charset="-122"/>
                <a:cs typeface="Calibri" pitchFamily="34" charset="-120"/>
              </a:rPr>
              <a:t>Every rating anchored to direct evidence: specific quotes, contextual framing — auditable and defensible.</a:t>
            </a:r>
            <a:endParaRPr lang="en-US" sz="1200" dirty="0"/>
          </a:p>
        </p:txBody>
      </p:sp>
      <p:sp>
        <p:nvSpPr>
          <p:cNvPr id="19" name="Shape 14"/>
          <p:cNvSpPr/>
          <p:nvPr/>
        </p:nvSpPr>
        <p:spPr>
          <a:xfrm>
            <a:off x="4023360" y="3703320"/>
            <a:ext cx="3291840" cy="1691640"/>
          </a:xfrm>
          <a:prstGeom prst="rect">
            <a:avLst/>
          </a:prstGeom>
          <a:solidFill>
            <a:srgbClr val="F8FAFC"/>
          </a:solidFill>
          <a:ln w="9525">
            <a:solidFill>
              <a:srgbClr val="E2E8F0"/>
            </a:solidFill>
            <a:prstDash val="solid"/>
          </a:ln>
          <a:effectLst>
            <a:outerShdw blurRad="101600" dist="25400" dir="5400000" algn="bl" rotWithShape="0">
              <a:srgbClr val="0F172A">
                <a:alpha val="6000"/>
              </a:srgbClr>
            </a:outerShdw>
          </a:effectLst>
        </p:spPr>
        <p:txBody>
          <a:bodyPr/>
          <a:lstStyle/>
          <a:p>
            <a:endParaRPr lang="en-US"/>
          </a:p>
        </p:txBody>
      </p:sp>
      <p:sp>
        <p:nvSpPr>
          <p:cNvPr id="20" name="Shape 15"/>
          <p:cNvSpPr/>
          <p:nvPr/>
        </p:nvSpPr>
        <p:spPr>
          <a:xfrm>
            <a:off x="4251960" y="3931920"/>
            <a:ext cx="502920" cy="502920"/>
          </a:xfrm>
          <a:prstGeom prst="ellipse">
            <a:avLst/>
          </a:prstGeom>
          <a:solidFill>
            <a:srgbClr val="DBEAFE"/>
          </a:solidFill>
          <a:ln w="12700">
            <a:solidFill>
              <a:srgbClr val="DBEAFE"/>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4343400" y="4023360"/>
            <a:ext cx="320040" cy="320040"/>
          </a:xfrm>
          <a:prstGeom prst="rect">
            <a:avLst/>
          </a:prstGeom>
        </p:spPr>
      </p:pic>
      <p:sp>
        <p:nvSpPr>
          <p:cNvPr id="22" name="Text 16"/>
          <p:cNvSpPr/>
          <p:nvPr/>
        </p:nvSpPr>
        <p:spPr>
          <a:xfrm>
            <a:off x="4892040" y="3904488"/>
            <a:ext cx="2286000" cy="365760"/>
          </a:xfrm>
          <a:prstGeom prst="rect">
            <a:avLst/>
          </a:prstGeom>
          <a:noFill/>
          <a:ln/>
        </p:spPr>
        <p:txBody>
          <a:bodyPr wrap="square" lIns="0" tIns="0" rIns="0" bIns="0" rtlCol="0" anchor="ctr"/>
          <a:lstStyle/>
          <a:p>
            <a:pPr marL="0" indent="0">
              <a:buNone/>
            </a:pPr>
            <a:r>
              <a:rPr lang="en-US" sz="1400" b="1" dirty="0">
                <a:solidFill>
                  <a:srgbClr val="0F172A"/>
                </a:solidFill>
                <a:latin typeface="Georgia" pitchFamily="34" charset="0"/>
                <a:ea typeface="Georgia" pitchFamily="34" charset="-122"/>
                <a:cs typeface="Georgia" pitchFamily="34" charset="-120"/>
              </a:rPr>
              <a:t>Seniority calibration</a:t>
            </a:r>
            <a:endParaRPr lang="en-US" sz="1400" dirty="0"/>
          </a:p>
        </p:txBody>
      </p:sp>
      <p:sp>
        <p:nvSpPr>
          <p:cNvPr id="23" name="Text 17"/>
          <p:cNvSpPr/>
          <p:nvPr/>
        </p:nvSpPr>
        <p:spPr>
          <a:xfrm>
            <a:off x="4251960" y="4480560"/>
            <a:ext cx="2834640" cy="868680"/>
          </a:xfrm>
          <a:prstGeom prst="rect">
            <a:avLst/>
          </a:prstGeom>
          <a:noFill/>
          <a:ln/>
        </p:spPr>
        <p:txBody>
          <a:bodyPr wrap="square" lIns="0" tIns="0" rIns="0" bIns="0" rtlCol="0" anchor="ctr"/>
          <a:lstStyle/>
          <a:p>
            <a:pPr marL="0" indent="0">
              <a:buNone/>
            </a:pPr>
            <a:r>
              <a:rPr lang="en-US" sz="1200" dirty="0">
                <a:latin typeface="Calibri" pitchFamily="34" charset="0"/>
                <a:ea typeface="Calibri" pitchFamily="34" charset="-122"/>
                <a:cs typeface="Calibri" pitchFamily="34" charset="-120"/>
              </a:rPr>
              <a:t>'Competent' for a Junior vs. an Executive are different standards — calibrated automatically</a:t>
            </a:r>
            <a:r>
              <a:rPr lang="en-US" sz="1100" dirty="0">
                <a:solidFill>
                  <a:srgbClr val="64748B"/>
                </a:solidFill>
                <a:latin typeface="Calibri" pitchFamily="34" charset="0"/>
                <a:ea typeface="Calibri" pitchFamily="34" charset="-122"/>
                <a:cs typeface="Calibri" pitchFamily="34" charset="-120"/>
              </a:rPr>
              <a:t>.</a:t>
            </a:r>
            <a:endParaRPr lang="en-US" sz="1100" dirty="0"/>
          </a:p>
        </p:txBody>
      </p:sp>
      <p:sp>
        <p:nvSpPr>
          <p:cNvPr id="24" name="Shape 18"/>
          <p:cNvSpPr/>
          <p:nvPr/>
        </p:nvSpPr>
        <p:spPr>
          <a:xfrm>
            <a:off x="7498080" y="1828800"/>
            <a:ext cx="4206240" cy="3566160"/>
          </a:xfrm>
          <a:prstGeom prst="rect">
            <a:avLst/>
          </a:prstGeom>
          <a:solidFill>
            <a:srgbClr val="0B1F3A"/>
          </a:solidFill>
          <a:ln w="12700">
            <a:solidFill>
              <a:srgbClr val="0B1F3A"/>
            </a:solidFill>
            <a:prstDash val="solid"/>
          </a:ln>
          <a:effectLst>
            <a:outerShdw blurRad="127000" dist="38100" dir="5400000" algn="bl" rotWithShape="0">
              <a:srgbClr val="0F172A">
                <a:alpha val="15000"/>
              </a:srgbClr>
            </a:outerShdw>
          </a:effectLst>
        </p:spPr>
        <p:txBody>
          <a:bodyPr/>
          <a:lstStyle/>
          <a:p>
            <a:endParaRPr lang="en-US"/>
          </a:p>
        </p:txBody>
      </p:sp>
      <p:sp>
        <p:nvSpPr>
          <p:cNvPr id="25" name="Text 19"/>
          <p:cNvSpPr/>
          <p:nvPr/>
        </p:nvSpPr>
        <p:spPr>
          <a:xfrm>
            <a:off x="7680960" y="1965960"/>
            <a:ext cx="3840480" cy="36576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What it produces</a:t>
            </a:r>
            <a:endParaRPr lang="en-US" sz="1400" dirty="0"/>
          </a:p>
        </p:txBody>
      </p:sp>
      <p:sp>
        <p:nvSpPr>
          <p:cNvPr id="26" name="Shape 20"/>
          <p:cNvSpPr/>
          <p:nvPr/>
        </p:nvSpPr>
        <p:spPr>
          <a:xfrm>
            <a:off x="7680960" y="2331720"/>
            <a:ext cx="548640" cy="36576"/>
          </a:xfrm>
          <a:prstGeom prst="rect">
            <a:avLst/>
          </a:prstGeom>
          <a:solidFill>
            <a:srgbClr val="2563EB"/>
          </a:solidFill>
          <a:ln w="12700">
            <a:solidFill>
              <a:srgbClr val="2563EB"/>
            </a:solidFill>
            <a:prstDash val="solid"/>
          </a:ln>
        </p:spPr>
        <p:txBody>
          <a:bodyPr/>
          <a:lstStyle/>
          <a:p>
            <a:endParaRPr lang="en-US"/>
          </a:p>
        </p:txBody>
      </p:sp>
      <p:sp>
        <p:nvSpPr>
          <p:cNvPr id="27" name="Text 21"/>
          <p:cNvSpPr/>
          <p:nvPr/>
        </p:nvSpPr>
        <p:spPr>
          <a:xfrm>
            <a:off x="7680960" y="2514600"/>
            <a:ext cx="274320" cy="320040"/>
          </a:xfrm>
          <a:prstGeom prst="rect">
            <a:avLst/>
          </a:prstGeom>
          <a:noFill/>
          <a:ln/>
        </p:spPr>
        <p:txBody>
          <a:bodyPr wrap="square" lIns="0" tIns="0" rIns="0" bIns="0" rtlCol="0" anchor="ctr"/>
          <a:lstStyle/>
          <a:p>
            <a:pPr marL="0" indent="0">
              <a:buNone/>
            </a:pPr>
            <a:r>
              <a:rPr lang="en-US" sz="1100" dirty="0">
                <a:solidFill>
                  <a:srgbClr val="2563EB"/>
                </a:solidFill>
                <a:latin typeface="Calibri" pitchFamily="34" charset="0"/>
                <a:ea typeface="Calibri" pitchFamily="34" charset="-122"/>
                <a:cs typeface="Calibri" pitchFamily="34" charset="-120"/>
              </a:rPr>
              <a:t>◈</a:t>
            </a:r>
            <a:endParaRPr lang="en-US" sz="1100" dirty="0"/>
          </a:p>
        </p:txBody>
      </p:sp>
      <p:sp>
        <p:nvSpPr>
          <p:cNvPr id="28" name="Text 22"/>
          <p:cNvSpPr/>
          <p:nvPr/>
        </p:nvSpPr>
        <p:spPr>
          <a:xfrm>
            <a:off x="7955280" y="2514600"/>
            <a:ext cx="365760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Overall rating</a:t>
            </a:r>
            <a:r>
              <a:rPr lang="en-US" sz="1200" dirty="0">
                <a:solidFill>
                  <a:srgbClr val="DBEAFE"/>
                </a:solidFill>
                <a:latin typeface="Calibri" pitchFamily="34" charset="0"/>
                <a:ea typeface="Calibri" pitchFamily="34" charset="-122"/>
                <a:cs typeface="Calibri" pitchFamily="34" charset="-120"/>
              </a:rPr>
              <a:t> — 1.0–5.0, calibrated to seniority</a:t>
            </a:r>
            <a:endParaRPr lang="en-US" sz="1200" dirty="0"/>
          </a:p>
        </p:txBody>
      </p:sp>
      <p:sp>
        <p:nvSpPr>
          <p:cNvPr id="29" name="Text 23"/>
          <p:cNvSpPr/>
          <p:nvPr/>
        </p:nvSpPr>
        <p:spPr>
          <a:xfrm>
            <a:off x="7680960" y="2898648"/>
            <a:ext cx="274320" cy="320040"/>
          </a:xfrm>
          <a:prstGeom prst="rect">
            <a:avLst/>
          </a:prstGeom>
          <a:noFill/>
          <a:ln/>
        </p:spPr>
        <p:txBody>
          <a:bodyPr wrap="square" lIns="0" tIns="0" rIns="0" bIns="0" rtlCol="0" anchor="ctr"/>
          <a:lstStyle/>
          <a:p>
            <a:pPr marL="0" indent="0">
              <a:buNone/>
            </a:pPr>
            <a:r>
              <a:rPr lang="en-US" sz="1100" dirty="0">
                <a:solidFill>
                  <a:srgbClr val="2563EB"/>
                </a:solidFill>
                <a:latin typeface="Calibri" pitchFamily="34" charset="0"/>
                <a:ea typeface="Calibri" pitchFamily="34" charset="-122"/>
                <a:cs typeface="Calibri" pitchFamily="34" charset="-120"/>
              </a:rPr>
              <a:t>◈</a:t>
            </a:r>
            <a:endParaRPr lang="en-US" sz="1100" dirty="0"/>
          </a:p>
        </p:txBody>
      </p:sp>
      <p:sp>
        <p:nvSpPr>
          <p:cNvPr id="30" name="Text 24"/>
          <p:cNvSpPr/>
          <p:nvPr/>
        </p:nvSpPr>
        <p:spPr>
          <a:xfrm>
            <a:off x="7955280" y="2898648"/>
            <a:ext cx="365760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Executive summary</a:t>
            </a:r>
            <a:r>
              <a:rPr lang="en-US" sz="1200" dirty="0">
                <a:solidFill>
                  <a:srgbClr val="DBEAFE"/>
                </a:solidFill>
                <a:latin typeface="Calibri" pitchFamily="34" charset="0"/>
                <a:ea typeface="Calibri" pitchFamily="34" charset="-122"/>
                <a:cs typeface="Calibri" pitchFamily="34" charset="-120"/>
              </a:rPr>
              <a:t> — standalone paragraph</a:t>
            </a:r>
            <a:endParaRPr lang="en-US" sz="1200" dirty="0"/>
          </a:p>
        </p:txBody>
      </p:sp>
      <p:sp>
        <p:nvSpPr>
          <p:cNvPr id="31" name="Text 25"/>
          <p:cNvSpPr/>
          <p:nvPr/>
        </p:nvSpPr>
        <p:spPr>
          <a:xfrm>
            <a:off x="7680960" y="3282696"/>
            <a:ext cx="274320" cy="320040"/>
          </a:xfrm>
          <a:prstGeom prst="rect">
            <a:avLst/>
          </a:prstGeom>
          <a:noFill/>
          <a:ln/>
        </p:spPr>
        <p:txBody>
          <a:bodyPr wrap="square" lIns="0" tIns="0" rIns="0" bIns="0" rtlCol="0" anchor="ctr"/>
          <a:lstStyle/>
          <a:p>
            <a:pPr marL="0" indent="0">
              <a:buNone/>
            </a:pPr>
            <a:r>
              <a:rPr lang="en-US" sz="1100" dirty="0">
                <a:solidFill>
                  <a:srgbClr val="2563EB"/>
                </a:solidFill>
                <a:latin typeface="Calibri" pitchFamily="34" charset="0"/>
                <a:ea typeface="Calibri" pitchFamily="34" charset="-122"/>
                <a:cs typeface="Calibri" pitchFamily="34" charset="-120"/>
              </a:rPr>
              <a:t>◈</a:t>
            </a:r>
            <a:endParaRPr lang="en-US" sz="1100" dirty="0"/>
          </a:p>
        </p:txBody>
      </p:sp>
      <p:sp>
        <p:nvSpPr>
          <p:cNvPr id="32" name="Text 26"/>
          <p:cNvSpPr/>
          <p:nvPr/>
        </p:nvSpPr>
        <p:spPr>
          <a:xfrm>
            <a:off x="7955280" y="3282696"/>
            <a:ext cx="365760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Per-competency</a:t>
            </a:r>
            <a:r>
              <a:rPr lang="en-US" sz="1200" dirty="0">
                <a:solidFill>
                  <a:srgbClr val="DBEAFE"/>
                </a:solidFill>
                <a:latin typeface="Calibri" pitchFamily="34" charset="0"/>
                <a:ea typeface="Calibri" pitchFamily="34" charset="-122"/>
                <a:cs typeface="Calibri" pitchFamily="34" charset="-120"/>
              </a:rPr>
              <a:t> — rating, narrative, evidence quotes</a:t>
            </a:r>
            <a:endParaRPr lang="en-US" sz="1200" dirty="0"/>
          </a:p>
        </p:txBody>
      </p:sp>
      <p:sp>
        <p:nvSpPr>
          <p:cNvPr id="33" name="Text 27"/>
          <p:cNvSpPr/>
          <p:nvPr/>
        </p:nvSpPr>
        <p:spPr>
          <a:xfrm>
            <a:off x="7680960" y="3666744"/>
            <a:ext cx="274320" cy="320040"/>
          </a:xfrm>
          <a:prstGeom prst="rect">
            <a:avLst/>
          </a:prstGeom>
          <a:noFill/>
          <a:ln/>
        </p:spPr>
        <p:txBody>
          <a:bodyPr wrap="square" lIns="0" tIns="0" rIns="0" bIns="0" rtlCol="0" anchor="ctr"/>
          <a:lstStyle/>
          <a:p>
            <a:pPr marL="0" indent="0">
              <a:buNone/>
            </a:pPr>
            <a:r>
              <a:rPr lang="en-US" sz="1100" dirty="0">
                <a:solidFill>
                  <a:srgbClr val="2563EB"/>
                </a:solidFill>
                <a:latin typeface="Calibri" pitchFamily="34" charset="0"/>
                <a:ea typeface="Calibri" pitchFamily="34" charset="-122"/>
                <a:cs typeface="Calibri" pitchFamily="34" charset="-120"/>
              </a:rPr>
              <a:t>◈</a:t>
            </a:r>
            <a:endParaRPr lang="en-US" sz="1100" dirty="0"/>
          </a:p>
        </p:txBody>
      </p:sp>
      <p:sp>
        <p:nvSpPr>
          <p:cNvPr id="34" name="Text 28"/>
          <p:cNvSpPr/>
          <p:nvPr/>
        </p:nvSpPr>
        <p:spPr>
          <a:xfrm>
            <a:off x="7955280" y="3666744"/>
            <a:ext cx="365760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Cross-cutting patterns</a:t>
            </a:r>
            <a:r>
              <a:rPr lang="en-US" sz="1200" dirty="0">
                <a:solidFill>
                  <a:srgbClr val="DBEAFE"/>
                </a:solidFill>
                <a:latin typeface="Calibri" pitchFamily="34" charset="0"/>
                <a:ea typeface="Calibri" pitchFamily="34" charset="-122"/>
                <a:cs typeface="Calibri" pitchFamily="34" charset="-120"/>
              </a:rPr>
              <a:t> — spanning multiple competencies</a:t>
            </a:r>
            <a:endParaRPr lang="en-US" sz="1200" dirty="0"/>
          </a:p>
        </p:txBody>
      </p:sp>
      <p:sp>
        <p:nvSpPr>
          <p:cNvPr id="35" name="Text 29"/>
          <p:cNvSpPr/>
          <p:nvPr/>
        </p:nvSpPr>
        <p:spPr>
          <a:xfrm>
            <a:off x="7680960" y="4050792"/>
            <a:ext cx="274320" cy="320040"/>
          </a:xfrm>
          <a:prstGeom prst="rect">
            <a:avLst/>
          </a:prstGeom>
          <a:noFill/>
          <a:ln/>
        </p:spPr>
        <p:txBody>
          <a:bodyPr wrap="square" lIns="0" tIns="0" rIns="0" bIns="0" rtlCol="0" anchor="ctr"/>
          <a:lstStyle/>
          <a:p>
            <a:pPr marL="0" indent="0">
              <a:buNone/>
            </a:pPr>
            <a:r>
              <a:rPr lang="en-US" sz="1100" dirty="0">
                <a:solidFill>
                  <a:srgbClr val="2563EB"/>
                </a:solidFill>
                <a:latin typeface="Calibri" pitchFamily="34" charset="0"/>
                <a:ea typeface="Calibri" pitchFamily="34" charset="-122"/>
                <a:cs typeface="Calibri" pitchFamily="34" charset="-120"/>
              </a:rPr>
              <a:t>◈</a:t>
            </a:r>
            <a:endParaRPr lang="en-US" sz="1100" dirty="0"/>
          </a:p>
        </p:txBody>
      </p:sp>
      <p:sp>
        <p:nvSpPr>
          <p:cNvPr id="36" name="Text 30"/>
          <p:cNvSpPr/>
          <p:nvPr/>
        </p:nvSpPr>
        <p:spPr>
          <a:xfrm>
            <a:off x="7955280" y="4050792"/>
            <a:ext cx="365760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Recommendation</a:t>
            </a:r>
            <a:r>
              <a:rPr lang="en-US" sz="1200" dirty="0">
                <a:solidFill>
                  <a:srgbClr val="DBEAFE"/>
                </a:solidFill>
                <a:latin typeface="Calibri" pitchFamily="34" charset="0"/>
                <a:ea typeface="Calibri" pitchFamily="34" charset="-122"/>
                <a:cs typeface="Calibri" pitchFamily="34" charset="-120"/>
              </a:rPr>
              <a:t> — proceed / with conditions / no</a:t>
            </a:r>
            <a:endParaRPr lang="en-US" sz="1200" dirty="0"/>
          </a:p>
        </p:txBody>
      </p:sp>
      <p:sp>
        <p:nvSpPr>
          <p:cNvPr id="37" name="Text 31"/>
          <p:cNvSpPr/>
          <p:nvPr/>
        </p:nvSpPr>
        <p:spPr>
          <a:xfrm>
            <a:off x="7680960" y="4434840"/>
            <a:ext cx="274320" cy="320040"/>
          </a:xfrm>
          <a:prstGeom prst="rect">
            <a:avLst/>
          </a:prstGeom>
          <a:noFill/>
          <a:ln/>
        </p:spPr>
        <p:txBody>
          <a:bodyPr wrap="square" lIns="0" tIns="0" rIns="0" bIns="0" rtlCol="0" anchor="ctr"/>
          <a:lstStyle/>
          <a:p>
            <a:pPr marL="0" indent="0">
              <a:buNone/>
            </a:pPr>
            <a:r>
              <a:rPr lang="en-US" sz="1100" dirty="0">
                <a:solidFill>
                  <a:srgbClr val="2563EB"/>
                </a:solidFill>
                <a:latin typeface="Calibri" pitchFamily="34" charset="0"/>
                <a:ea typeface="Calibri" pitchFamily="34" charset="-122"/>
                <a:cs typeface="Calibri" pitchFamily="34" charset="-120"/>
              </a:rPr>
              <a:t>◈</a:t>
            </a:r>
            <a:endParaRPr lang="en-US" sz="1100" dirty="0"/>
          </a:p>
        </p:txBody>
      </p:sp>
      <p:sp>
        <p:nvSpPr>
          <p:cNvPr id="38" name="Text 32"/>
          <p:cNvSpPr/>
          <p:nvPr/>
        </p:nvSpPr>
        <p:spPr>
          <a:xfrm>
            <a:off x="7955280" y="4434840"/>
            <a:ext cx="365760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Full transcript</a:t>
            </a:r>
            <a:r>
              <a:rPr lang="en-US" sz="1200" dirty="0">
                <a:solidFill>
                  <a:srgbClr val="DBEAFE"/>
                </a:solidFill>
                <a:latin typeface="Calibri" pitchFamily="34" charset="0"/>
                <a:ea typeface="Calibri" pitchFamily="34" charset="-122"/>
                <a:cs typeface="Calibri" pitchFamily="34" charset="-120"/>
              </a:rPr>
              <a:t> — complete session for review</a:t>
            </a:r>
            <a:endParaRPr lang="en-US" sz="1200" dirty="0"/>
          </a:p>
        </p:txBody>
      </p:sp>
      <p:sp>
        <p:nvSpPr>
          <p:cNvPr id="39" name="Shape 33"/>
          <p:cNvSpPr/>
          <p:nvPr/>
        </p:nvSpPr>
        <p:spPr>
          <a:xfrm>
            <a:off x="548640" y="5715000"/>
            <a:ext cx="73152" cy="457200"/>
          </a:xfrm>
          <a:prstGeom prst="rect">
            <a:avLst/>
          </a:prstGeom>
          <a:solidFill>
            <a:srgbClr val="2563EB"/>
          </a:solidFill>
          <a:ln w="12700">
            <a:solidFill>
              <a:srgbClr val="2563EB"/>
            </a:solidFill>
            <a:prstDash val="solid"/>
          </a:ln>
        </p:spPr>
        <p:txBody>
          <a:bodyPr/>
          <a:lstStyle/>
          <a:p>
            <a:endParaRPr lang="en-US"/>
          </a:p>
        </p:txBody>
      </p:sp>
      <p:sp>
        <p:nvSpPr>
          <p:cNvPr id="40" name="Text 34"/>
          <p:cNvSpPr/>
          <p:nvPr/>
        </p:nvSpPr>
        <p:spPr>
          <a:xfrm>
            <a:off x="777240" y="5715000"/>
            <a:ext cx="10789920" cy="457200"/>
          </a:xfrm>
          <a:prstGeom prst="rect">
            <a:avLst/>
          </a:prstGeom>
          <a:noFill/>
          <a:ln/>
        </p:spPr>
        <p:txBody>
          <a:bodyPr wrap="square" lIns="0" tIns="0" rIns="0" bIns="0" rtlCol="0" anchor="ctr"/>
          <a:lstStyle/>
          <a:p>
            <a:pPr marL="0" indent="0">
              <a:buNone/>
            </a:pPr>
            <a:r>
              <a:rPr lang="en-US" sz="1400" i="1" dirty="0">
                <a:solidFill>
                  <a:srgbClr val="0F172A"/>
                </a:solidFill>
                <a:latin typeface="Calibri" pitchFamily="34" charset="0"/>
                <a:ea typeface="Calibri" pitchFamily="34" charset="-122"/>
                <a:cs typeface="Calibri" pitchFamily="34" charset="-120"/>
              </a:rPr>
              <a:t>Plus a cross-module competency matrix for multi-exercise comparison.</a:t>
            </a:r>
            <a:endParaRPr lang="en-US" sz="1400" dirty="0"/>
          </a:p>
        </p:txBody>
      </p:sp>
      <p:sp>
        <p:nvSpPr>
          <p:cNvPr id="41" name="Text 35"/>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TALENS  ·  AI-Native Assessment Platform</a:t>
            </a:r>
            <a:endParaRPr lang="en-US" sz="900" dirty="0"/>
          </a:p>
        </p:txBody>
      </p:sp>
      <p:sp>
        <p:nvSpPr>
          <p:cNvPr id="43" name="Text 27">
            <a:extLst>
              <a:ext uri="{FF2B5EF4-FFF2-40B4-BE49-F238E27FC236}">
                <a16:creationId xmlns:a16="http://schemas.microsoft.com/office/drawing/2014/main" id="{F3E01A54-F2BD-0317-C98C-AD7FC4EFCA40}"/>
              </a:ext>
            </a:extLst>
          </p:cNvPr>
          <p:cNvSpPr/>
          <p:nvPr/>
        </p:nvSpPr>
        <p:spPr>
          <a:xfrm>
            <a:off x="11109960" y="6492240"/>
            <a:ext cx="822960" cy="274320"/>
          </a:xfrm>
          <a:prstGeom prst="rect">
            <a:avLst/>
          </a:prstGeom>
          <a:noFill/>
          <a:ln/>
        </p:spPr>
        <p:txBody>
          <a:bodyPr wrap="square" lIns="0" tIns="0" rIns="0" bIns="0" rtlCol="0" anchor="ctr"/>
          <a:lstStyle/>
          <a:p>
            <a:pPr marL="0" indent="0" algn="r">
              <a:buNone/>
            </a:pPr>
            <a:fld id="{6F2FAB83-15A9-4446-A83E-37BCA0A0EBC9}" type="slidenum">
              <a:rPr lang="en-US" sz="900" smtClean="0">
                <a:solidFill>
                  <a:srgbClr val="64748B"/>
                </a:solidFill>
                <a:latin typeface="Calibri" pitchFamily="34" charset="0"/>
                <a:ea typeface="Calibri" pitchFamily="34" charset="-122"/>
                <a:cs typeface="Calibri" pitchFamily="34" charset="-120"/>
              </a:rPr>
              <a:t>5</a:t>
            </a:fld>
            <a:r>
              <a:rPr lang="en-US" sz="900" dirty="0">
                <a:solidFill>
                  <a:srgbClr val="64748B"/>
                </a:solidFill>
                <a:latin typeface="Calibri" pitchFamily="34" charset="0"/>
                <a:ea typeface="Calibri" pitchFamily="34" charset="-122"/>
                <a:cs typeface="Calibri" pitchFamily="34" charset="-120"/>
              </a:rPr>
              <a:t> </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502920"/>
            <a:ext cx="10972800" cy="274320"/>
          </a:xfrm>
          <a:prstGeom prst="rect">
            <a:avLst/>
          </a:prstGeom>
          <a:noFill/>
          <a:ln/>
        </p:spPr>
        <p:txBody>
          <a:bodyPr wrap="square" lIns="0" tIns="0" rIns="0" bIns="0" rtlCol="0" anchor="ctr"/>
          <a:lstStyle/>
          <a:p>
            <a:pPr marL="0" indent="0">
              <a:buNone/>
            </a:pPr>
            <a:r>
              <a:rPr lang="en-US" sz="1200" b="1" kern="0" spc="400" dirty="0">
                <a:solidFill>
                  <a:srgbClr val="2563EB"/>
                </a:solidFill>
                <a:latin typeface="Calibri" pitchFamily="34" charset="0"/>
                <a:ea typeface="Calibri" pitchFamily="34" charset="-122"/>
                <a:cs typeface="Calibri" pitchFamily="34" charset="-120"/>
              </a:rPr>
              <a:t>USE CASES</a:t>
            </a:r>
            <a:endParaRPr lang="en-US" sz="1200" dirty="0"/>
          </a:p>
        </p:txBody>
      </p:sp>
      <p:sp>
        <p:nvSpPr>
          <p:cNvPr id="3" name="Text 1"/>
          <p:cNvSpPr/>
          <p:nvPr/>
        </p:nvSpPr>
        <p:spPr>
          <a:xfrm>
            <a:off x="548640" y="777240"/>
            <a:ext cx="10972800" cy="822960"/>
          </a:xfrm>
          <a:prstGeom prst="rect">
            <a:avLst/>
          </a:prstGeom>
          <a:noFill/>
          <a:ln/>
        </p:spPr>
        <p:txBody>
          <a:bodyPr wrap="square" lIns="0" tIns="0" rIns="0" bIns="0" rtlCol="0" anchor="ctr"/>
          <a:lstStyle/>
          <a:p>
            <a:pPr marL="0" indent="0">
              <a:buNone/>
            </a:pPr>
            <a:r>
              <a:rPr lang="en-US" sz="3400" b="1" dirty="0">
                <a:solidFill>
                  <a:srgbClr val="0F172A"/>
                </a:solidFill>
                <a:latin typeface="Georgia" pitchFamily="34" charset="0"/>
                <a:ea typeface="Georgia" pitchFamily="34" charset="-122"/>
                <a:cs typeface="Georgia" pitchFamily="34" charset="-120"/>
              </a:rPr>
              <a:t>Full range of hiring and promotion decisions</a:t>
            </a:r>
            <a:endParaRPr lang="en-US" sz="3400" dirty="0"/>
          </a:p>
        </p:txBody>
      </p:sp>
      <p:sp>
        <p:nvSpPr>
          <p:cNvPr id="4" name="Shape 2"/>
          <p:cNvSpPr/>
          <p:nvPr/>
        </p:nvSpPr>
        <p:spPr>
          <a:xfrm>
            <a:off x="548640" y="1828800"/>
            <a:ext cx="5532120" cy="1920240"/>
          </a:xfrm>
          <a:prstGeom prst="rect">
            <a:avLst/>
          </a:prstGeom>
          <a:solidFill>
            <a:srgbClr val="F8FAFC"/>
          </a:solidFill>
          <a:ln w="9525">
            <a:solidFill>
              <a:srgbClr val="E2E8F0"/>
            </a:solidFill>
            <a:prstDash val="solid"/>
          </a:ln>
          <a:effectLst>
            <a:outerShdw blurRad="101600" dist="25400" dir="5400000" algn="bl" rotWithShape="0">
              <a:srgbClr val="0F172A">
                <a:alpha val="6000"/>
              </a:srgbClr>
            </a:outerShdw>
          </a:effectLst>
        </p:spPr>
        <p:txBody>
          <a:bodyPr/>
          <a:lstStyle/>
          <a:p>
            <a:endParaRPr lang="en-US"/>
          </a:p>
        </p:txBody>
      </p:sp>
      <p:sp>
        <p:nvSpPr>
          <p:cNvPr id="5" name="Shape 3"/>
          <p:cNvSpPr/>
          <p:nvPr/>
        </p:nvSpPr>
        <p:spPr>
          <a:xfrm>
            <a:off x="548640" y="1828800"/>
            <a:ext cx="73152" cy="1920240"/>
          </a:xfrm>
          <a:prstGeom prst="rect">
            <a:avLst/>
          </a:prstGeom>
          <a:solidFill>
            <a:srgbClr val="2563EB"/>
          </a:solidFill>
          <a:ln w="12700">
            <a:solidFill>
              <a:srgbClr val="2563EB"/>
            </a:solidFill>
            <a:prstDash val="solid"/>
          </a:ln>
        </p:spPr>
        <p:txBody>
          <a:bodyPr/>
          <a:lstStyle/>
          <a:p>
            <a:endParaRPr lang="en-US"/>
          </a:p>
        </p:txBody>
      </p:sp>
      <p:sp>
        <p:nvSpPr>
          <p:cNvPr id="6" name="Text 4"/>
          <p:cNvSpPr/>
          <p:nvPr/>
        </p:nvSpPr>
        <p:spPr>
          <a:xfrm>
            <a:off x="822960" y="1965960"/>
            <a:ext cx="5074920" cy="365760"/>
          </a:xfrm>
          <a:prstGeom prst="rect">
            <a:avLst/>
          </a:prstGeom>
          <a:noFill/>
          <a:ln/>
        </p:spPr>
        <p:txBody>
          <a:bodyPr wrap="square" lIns="0" tIns="0" rIns="0" bIns="0" rtlCol="0" anchor="ctr"/>
          <a:lstStyle/>
          <a:p>
            <a:pPr marL="0" indent="0">
              <a:buNone/>
            </a:pPr>
            <a:r>
              <a:rPr lang="en-US" sz="1600" b="1" dirty="0">
                <a:solidFill>
                  <a:srgbClr val="0F172A"/>
                </a:solidFill>
                <a:latin typeface="Georgia" pitchFamily="34" charset="0"/>
                <a:ea typeface="Georgia" pitchFamily="34" charset="-122"/>
                <a:cs typeface="Georgia" pitchFamily="34" charset="-120"/>
              </a:rPr>
              <a:t>Technical Hiring</a:t>
            </a:r>
            <a:endParaRPr lang="en-US" sz="1600" dirty="0"/>
          </a:p>
        </p:txBody>
      </p:sp>
      <p:sp>
        <p:nvSpPr>
          <p:cNvPr id="7" name="Text 5"/>
          <p:cNvSpPr/>
          <p:nvPr/>
        </p:nvSpPr>
        <p:spPr>
          <a:xfrm>
            <a:off x="822960" y="2331720"/>
            <a:ext cx="5074920" cy="256032"/>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50 developers &amp; data analysts</a:t>
            </a:r>
            <a:endParaRPr lang="en-US" sz="1200" dirty="0"/>
          </a:p>
        </p:txBody>
      </p:sp>
      <p:sp>
        <p:nvSpPr>
          <p:cNvPr id="8" name="Text 6"/>
          <p:cNvSpPr/>
          <p:nvPr/>
        </p:nvSpPr>
        <p:spPr>
          <a:xfrm>
            <a:off x="822960" y="2606040"/>
            <a:ext cx="5074920" cy="292608"/>
          </a:xfrm>
          <a:prstGeom prst="rect">
            <a:avLst/>
          </a:prstGeom>
          <a:noFill/>
          <a:ln/>
        </p:spPr>
        <p:txBody>
          <a:bodyPr wrap="square" lIns="0" tIns="0" rIns="0" bIns="0" rtlCol="0" anchor="ctr"/>
          <a:lstStyle/>
          <a:p>
            <a:pPr marL="0" indent="0">
              <a:buNone/>
            </a:pPr>
            <a:r>
              <a:rPr lang="en-US" sz="1400" b="1" dirty="0">
                <a:solidFill>
                  <a:srgbClr val="2563EB"/>
                </a:solidFill>
                <a:latin typeface="Calibri" pitchFamily="34" charset="0"/>
                <a:ea typeface="Calibri" pitchFamily="34" charset="-122"/>
                <a:cs typeface="Calibri" pitchFamily="34" charset="-120"/>
              </a:rPr>
              <a:t>Behavioral Interview + Problem Dialogue + Team Dynamics</a:t>
            </a:r>
            <a:endParaRPr lang="en-US" sz="1400" dirty="0"/>
          </a:p>
        </p:txBody>
      </p:sp>
      <p:sp>
        <p:nvSpPr>
          <p:cNvPr id="9" name="Text 7"/>
          <p:cNvSpPr/>
          <p:nvPr/>
        </p:nvSpPr>
        <p:spPr>
          <a:xfrm>
            <a:off x="822960" y="2926080"/>
            <a:ext cx="5074920" cy="777240"/>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Scenarios tailored to each candidate's technical domain. The cross-module matrix reveals whether strong problem-solvers also collaborate effectively.</a:t>
            </a:r>
            <a:endParaRPr lang="en-US" sz="1400" dirty="0"/>
          </a:p>
        </p:txBody>
      </p:sp>
      <p:sp>
        <p:nvSpPr>
          <p:cNvPr id="10" name="Shape 8"/>
          <p:cNvSpPr/>
          <p:nvPr/>
        </p:nvSpPr>
        <p:spPr>
          <a:xfrm>
            <a:off x="6263640" y="1828800"/>
            <a:ext cx="5532120" cy="1920240"/>
          </a:xfrm>
          <a:prstGeom prst="rect">
            <a:avLst/>
          </a:prstGeom>
          <a:solidFill>
            <a:srgbClr val="F8FAFC"/>
          </a:solidFill>
          <a:ln w="9525">
            <a:solidFill>
              <a:srgbClr val="E2E8F0"/>
            </a:solidFill>
            <a:prstDash val="solid"/>
          </a:ln>
          <a:effectLst>
            <a:outerShdw blurRad="101600" dist="25400" dir="5400000" algn="bl" rotWithShape="0">
              <a:srgbClr val="0F172A">
                <a:alpha val="6000"/>
              </a:srgbClr>
            </a:outerShdw>
          </a:effectLst>
        </p:spPr>
        <p:txBody>
          <a:bodyPr/>
          <a:lstStyle/>
          <a:p>
            <a:endParaRPr lang="en-US"/>
          </a:p>
        </p:txBody>
      </p:sp>
      <p:sp>
        <p:nvSpPr>
          <p:cNvPr id="11" name="Shape 9"/>
          <p:cNvSpPr/>
          <p:nvPr/>
        </p:nvSpPr>
        <p:spPr>
          <a:xfrm>
            <a:off x="6263640" y="1828800"/>
            <a:ext cx="73152" cy="1920240"/>
          </a:xfrm>
          <a:prstGeom prst="rect">
            <a:avLst/>
          </a:prstGeom>
          <a:solidFill>
            <a:srgbClr val="2563EB"/>
          </a:solidFill>
          <a:ln w="12700">
            <a:solidFill>
              <a:srgbClr val="2563EB"/>
            </a:solidFill>
            <a:prstDash val="solid"/>
          </a:ln>
        </p:spPr>
        <p:txBody>
          <a:bodyPr/>
          <a:lstStyle/>
          <a:p>
            <a:endParaRPr lang="en-US"/>
          </a:p>
        </p:txBody>
      </p:sp>
      <p:sp>
        <p:nvSpPr>
          <p:cNvPr id="12" name="Text 10"/>
          <p:cNvSpPr/>
          <p:nvPr/>
        </p:nvSpPr>
        <p:spPr>
          <a:xfrm>
            <a:off x="6537960" y="1965960"/>
            <a:ext cx="5074920" cy="365760"/>
          </a:xfrm>
          <a:prstGeom prst="rect">
            <a:avLst/>
          </a:prstGeom>
          <a:noFill/>
          <a:ln/>
        </p:spPr>
        <p:txBody>
          <a:bodyPr wrap="square" lIns="0" tIns="0" rIns="0" bIns="0" rtlCol="0" anchor="ctr"/>
          <a:lstStyle/>
          <a:p>
            <a:pPr marL="0" indent="0">
              <a:buNone/>
            </a:pPr>
            <a:r>
              <a:rPr lang="en-US" sz="1600" b="1" dirty="0">
                <a:solidFill>
                  <a:srgbClr val="0F172A"/>
                </a:solidFill>
                <a:latin typeface="Georgia" pitchFamily="34" charset="0"/>
                <a:ea typeface="Georgia" pitchFamily="34" charset="-122"/>
                <a:cs typeface="Georgia" pitchFamily="34" charset="-120"/>
              </a:rPr>
              <a:t>Client-Facing Roles</a:t>
            </a:r>
            <a:endParaRPr lang="en-US" sz="1600" dirty="0"/>
          </a:p>
        </p:txBody>
      </p:sp>
      <p:sp>
        <p:nvSpPr>
          <p:cNvPr id="13" name="Text 11"/>
          <p:cNvSpPr/>
          <p:nvPr/>
        </p:nvSpPr>
        <p:spPr>
          <a:xfrm>
            <a:off x="6537960" y="2331720"/>
            <a:ext cx="5074920" cy="256032"/>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30 relationship managers</a:t>
            </a:r>
            <a:endParaRPr lang="en-US" sz="1200" dirty="0"/>
          </a:p>
        </p:txBody>
      </p:sp>
      <p:sp>
        <p:nvSpPr>
          <p:cNvPr id="14" name="Text 12"/>
          <p:cNvSpPr/>
          <p:nvPr/>
        </p:nvSpPr>
        <p:spPr>
          <a:xfrm>
            <a:off x="6537960" y="2606040"/>
            <a:ext cx="5074920" cy="292608"/>
          </a:xfrm>
          <a:prstGeom prst="rect">
            <a:avLst/>
          </a:prstGeom>
          <a:noFill/>
          <a:ln/>
        </p:spPr>
        <p:txBody>
          <a:bodyPr wrap="square" lIns="0" tIns="0" rIns="0" bIns="0" rtlCol="0" anchor="ctr"/>
          <a:lstStyle/>
          <a:p>
            <a:pPr marL="0" indent="0">
              <a:buNone/>
            </a:pPr>
            <a:r>
              <a:rPr lang="en-US" sz="1400" b="1" dirty="0">
                <a:solidFill>
                  <a:srgbClr val="2563EB"/>
                </a:solidFill>
                <a:latin typeface="Calibri" pitchFamily="34" charset="0"/>
                <a:ea typeface="Calibri" pitchFamily="34" charset="-122"/>
                <a:cs typeface="Calibri" pitchFamily="34" charset="-120"/>
              </a:rPr>
              <a:t>Behavioral Interview + Role Play + Priority Triage</a:t>
            </a:r>
            <a:endParaRPr lang="en-US" sz="1400" dirty="0"/>
          </a:p>
        </p:txBody>
      </p:sp>
      <p:sp>
        <p:nvSpPr>
          <p:cNvPr id="15" name="Text 13"/>
          <p:cNvSpPr/>
          <p:nvPr/>
        </p:nvSpPr>
        <p:spPr>
          <a:xfrm>
            <a:off x="6537960" y="2926080"/>
            <a:ext cx="5074920" cy="777240"/>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Role Play creates industry-specific client scenarios — not generic scripts. The contrast between stated behavior and live performance reveals gaps.</a:t>
            </a:r>
            <a:endParaRPr lang="en-US" sz="1400" dirty="0"/>
          </a:p>
        </p:txBody>
      </p:sp>
      <p:sp>
        <p:nvSpPr>
          <p:cNvPr id="16" name="Shape 14"/>
          <p:cNvSpPr/>
          <p:nvPr/>
        </p:nvSpPr>
        <p:spPr>
          <a:xfrm>
            <a:off x="548640" y="3931920"/>
            <a:ext cx="5532120" cy="1920240"/>
          </a:xfrm>
          <a:prstGeom prst="rect">
            <a:avLst/>
          </a:prstGeom>
          <a:solidFill>
            <a:srgbClr val="F8FAFC"/>
          </a:solidFill>
          <a:ln w="9525">
            <a:solidFill>
              <a:srgbClr val="E2E8F0"/>
            </a:solidFill>
            <a:prstDash val="solid"/>
          </a:ln>
          <a:effectLst>
            <a:outerShdw blurRad="101600" dist="25400" dir="5400000" algn="bl" rotWithShape="0">
              <a:srgbClr val="0F172A">
                <a:alpha val="6000"/>
              </a:srgbClr>
            </a:outerShdw>
          </a:effectLst>
        </p:spPr>
        <p:txBody>
          <a:bodyPr/>
          <a:lstStyle/>
          <a:p>
            <a:endParaRPr lang="en-US"/>
          </a:p>
        </p:txBody>
      </p:sp>
      <p:sp>
        <p:nvSpPr>
          <p:cNvPr id="17" name="Shape 15"/>
          <p:cNvSpPr/>
          <p:nvPr/>
        </p:nvSpPr>
        <p:spPr>
          <a:xfrm>
            <a:off x="548640" y="3931920"/>
            <a:ext cx="73152" cy="1920240"/>
          </a:xfrm>
          <a:prstGeom prst="rect">
            <a:avLst/>
          </a:prstGeom>
          <a:solidFill>
            <a:srgbClr val="2563EB"/>
          </a:solidFill>
          <a:ln w="12700">
            <a:solidFill>
              <a:srgbClr val="2563EB"/>
            </a:solidFill>
            <a:prstDash val="solid"/>
          </a:ln>
        </p:spPr>
        <p:txBody>
          <a:bodyPr/>
          <a:lstStyle/>
          <a:p>
            <a:endParaRPr lang="en-US"/>
          </a:p>
        </p:txBody>
      </p:sp>
      <p:sp>
        <p:nvSpPr>
          <p:cNvPr id="18" name="Text 16"/>
          <p:cNvSpPr/>
          <p:nvPr/>
        </p:nvSpPr>
        <p:spPr>
          <a:xfrm>
            <a:off x="822960" y="4069080"/>
            <a:ext cx="5074920" cy="365760"/>
          </a:xfrm>
          <a:prstGeom prst="rect">
            <a:avLst/>
          </a:prstGeom>
          <a:noFill/>
          <a:ln/>
        </p:spPr>
        <p:txBody>
          <a:bodyPr wrap="square" lIns="0" tIns="0" rIns="0" bIns="0" rtlCol="0" anchor="ctr"/>
          <a:lstStyle/>
          <a:p>
            <a:pPr marL="0" indent="0">
              <a:buNone/>
            </a:pPr>
            <a:r>
              <a:rPr lang="en-US" sz="1600" b="1" dirty="0">
                <a:solidFill>
                  <a:srgbClr val="0F172A"/>
                </a:solidFill>
                <a:latin typeface="Georgia" pitchFamily="34" charset="0"/>
                <a:ea typeface="Georgia" pitchFamily="34" charset="-122"/>
                <a:cs typeface="Georgia" pitchFamily="34" charset="-120"/>
              </a:rPr>
              <a:t>Management Assessment</a:t>
            </a:r>
            <a:endParaRPr lang="en-US" sz="1600" dirty="0"/>
          </a:p>
        </p:txBody>
      </p:sp>
      <p:sp>
        <p:nvSpPr>
          <p:cNvPr id="19" name="Text 17"/>
          <p:cNvSpPr/>
          <p:nvPr/>
        </p:nvSpPr>
        <p:spPr>
          <a:xfrm>
            <a:off x="822960" y="4434840"/>
            <a:ext cx="5074920" cy="256032"/>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Internal candidates for ops managers</a:t>
            </a:r>
            <a:endParaRPr lang="en-US" sz="1200" dirty="0"/>
          </a:p>
        </p:txBody>
      </p:sp>
      <p:sp>
        <p:nvSpPr>
          <p:cNvPr id="20" name="Text 18"/>
          <p:cNvSpPr/>
          <p:nvPr/>
        </p:nvSpPr>
        <p:spPr>
          <a:xfrm>
            <a:off x="822960" y="4709160"/>
            <a:ext cx="5074920" cy="292608"/>
          </a:xfrm>
          <a:prstGeom prst="rect">
            <a:avLst/>
          </a:prstGeom>
          <a:noFill/>
          <a:ln/>
        </p:spPr>
        <p:txBody>
          <a:bodyPr wrap="square" lIns="0" tIns="0" rIns="0" bIns="0" rtlCol="0" anchor="ctr"/>
          <a:lstStyle/>
          <a:p>
            <a:pPr marL="0" indent="0">
              <a:buNone/>
            </a:pPr>
            <a:r>
              <a:rPr lang="en-US" sz="1400" b="1" dirty="0">
                <a:solidFill>
                  <a:srgbClr val="2563EB"/>
                </a:solidFill>
                <a:latin typeface="Calibri" pitchFamily="34" charset="0"/>
                <a:ea typeface="Calibri" pitchFamily="34" charset="-122"/>
                <a:cs typeface="Calibri" pitchFamily="34" charset="-120"/>
              </a:rPr>
              <a:t>Priority Triage + Operational Coordination + Decision Canvas</a:t>
            </a:r>
            <a:endParaRPr lang="en-US" sz="1400" dirty="0"/>
          </a:p>
        </p:txBody>
      </p:sp>
      <p:sp>
        <p:nvSpPr>
          <p:cNvPr id="21" name="Text 19"/>
          <p:cNvSpPr/>
          <p:nvPr/>
        </p:nvSpPr>
        <p:spPr>
          <a:xfrm>
            <a:off x="822960" y="5029200"/>
            <a:ext cx="5074920" cy="777240"/>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Tests both reactive capability (triage under pressure) and proactive capability (coordination initiative). Scenarios match operational context.</a:t>
            </a:r>
            <a:endParaRPr lang="en-US" sz="1400" dirty="0"/>
          </a:p>
        </p:txBody>
      </p:sp>
      <p:sp>
        <p:nvSpPr>
          <p:cNvPr id="22" name="Shape 20"/>
          <p:cNvSpPr/>
          <p:nvPr/>
        </p:nvSpPr>
        <p:spPr>
          <a:xfrm>
            <a:off x="6263640" y="3931920"/>
            <a:ext cx="5532120" cy="1920240"/>
          </a:xfrm>
          <a:prstGeom prst="rect">
            <a:avLst/>
          </a:prstGeom>
          <a:solidFill>
            <a:srgbClr val="F8FAFC"/>
          </a:solidFill>
          <a:ln w="9525">
            <a:solidFill>
              <a:srgbClr val="E2E8F0"/>
            </a:solidFill>
            <a:prstDash val="solid"/>
          </a:ln>
          <a:effectLst>
            <a:outerShdw blurRad="101600" dist="25400" dir="5400000" algn="bl" rotWithShape="0">
              <a:srgbClr val="0F172A">
                <a:alpha val="6000"/>
              </a:srgbClr>
            </a:outerShdw>
          </a:effectLst>
        </p:spPr>
        <p:txBody>
          <a:bodyPr/>
          <a:lstStyle/>
          <a:p>
            <a:endParaRPr lang="en-US"/>
          </a:p>
        </p:txBody>
      </p:sp>
      <p:sp>
        <p:nvSpPr>
          <p:cNvPr id="23" name="Shape 21"/>
          <p:cNvSpPr/>
          <p:nvPr/>
        </p:nvSpPr>
        <p:spPr>
          <a:xfrm>
            <a:off x="6263640" y="3931920"/>
            <a:ext cx="73152" cy="1920240"/>
          </a:xfrm>
          <a:prstGeom prst="rect">
            <a:avLst/>
          </a:prstGeom>
          <a:solidFill>
            <a:srgbClr val="2563EB"/>
          </a:solidFill>
          <a:ln w="12700">
            <a:solidFill>
              <a:srgbClr val="2563EB"/>
            </a:solidFill>
            <a:prstDash val="solid"/>
          </a:ln>
        </p:spPr>
        <p:txBody>
          <a:bodyPr/>
          <a:lstStyle/>
          <a:p>
            <a:endParaRPr lang="en-US"/>
          </a:p>
        </p:txBody>
      </p:sp>
      <p:sp>
        <p:nvSpPr>
          <p:cNvPr id="24" name="Text 22"/>
          <p:cNvSpPr/>
          <p:nvPr/>
        </p:nvSpPr>
        <p:spPr>
          <a:xfrm>
            <a:off x="6537960" y="4069080"/>
            <a:ext cx="5074920" cy="365760"/>
          </a:xfrm>
          <a:prstGeom prst="rect">
            <a:avLst/>
          </a:prstGeom>
          <a:noFill/>
          <a:ln/>
        </p:spPr>
        <p:txBody>
          <a:bodyPr wrap="square" lIns="0" tIns="0" rIns="0" bIns="0" rtlCol="0" anchor="ctr"/>
          <a:lstStyle/>
          <a:p>
            <a:pPr marL="0" indent="0">
              <a:buNone/>
            </a:pPr>
            <a:r>
              <a:rPr lang="en-US" sz="1600" b="1" dirty="0">
                <a:solidFill>
                  <a:srgbClr val="0F172A"/>
                </a:solidFill>
                <a:latin typeface="Georgia" pitchFamily="34" charset="0"/>
                <a:ea typeface="Georgia" pitchFamily="34" charset="-122"/>
                <a:cs typeface="Georgia" pitchFamily="34" charset="-120"/>
              </a:rPr>
              <a:t>Leadership &amp; Executive</a:t>
            </a:r>
            <a:endParaRPr lang="en-US" sz="1600" dirty="0"/>
          </a:p>
        </p:txBody>
      </p:sp>
      <p:sp>
        <p:nvSpPr>
          <p:cNvPr id="25" name="Text 23"/>
          <p:cNvSpPr/>
          <p:nvPr/>
        </p:nvSpPr>
        <p:spPr>
          <a:xfrm>
            <a:off x="6537960" y="4434840"/>
            <a:ext cx="5074920" cy="256032"/>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Senior partners in consulting</a:t>
            </a:r>
            <a:endParaRPr lang="en-US" sz="1200" dirty="0"/>
          </a:p>
        </p:txBody>
      </p:sp>
      <p:sp>
        <p:nvSpPr>
          <p:cNvPr id="26" name="Text 24"/>
          <p:cNvSpPr/>
          <p:nvPr/>
        </p:nvSpPr>
        <p:spPr>
          <a:xfrm>
            <a:off x="6537960" y="4709160"/>
            <a:ext cx="5074920" cy="292608"/>
          </a:xfrm>
          <a:prstGeom prst="rect">
            <a:avLst/>
          </a:prstGeom>
          <a:noFill/>
          <a:ln/>
        </p:spPr>
        <p:txBody>
          <a:bodyPr wrap="square" lIns="0" tIns="0" rIns="0" bIns="0" rtlCol="0" anchor="ctr"/>
          <a:lstStyle/>
          <a:p>
            <a:pPr marL="0" indent="0">
              <a:buNone/>
            </a:pPr>
            <a:r>
              <a:rPr lang="en-US" sz="1400" b="1" dirty="0">
                <a:solidFill>
                  <a:srgbClr val="2563EB"/>
                </a:solidFill>
                <a:latin typeface="Calibri" pitchFamily="34" charset="0"/>
                <a:ea typeface="Calibri" pitchFamily="34" charset="-122"/>
                <a:cs typeface="Calibri" pitchFamily="34" charset="-120"/>
              </a:rPr>
              <a:t>Behavioral Interview + Systems Thinking + Role Play</a:t>
            </a:r>
            <a:endParaRPr lang="en-US" sz="1400" dirty="0"/>
          </a:p>
        </p:txBody>
      </p:sp>
      <p:sp>
        <p:nvSpPr>
          <p:cNvPr id="27" name="Text 25"/>
          <p:cNvSpPr/>
          <p:nvPr/>
        </p:nvSpPr>
        <p:spPr>
          <a:xfrm>
            <a:off x="6537960" y="5029200"/>
            <a:ext cx="5074920" cy="777240"/>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Deep interview probes meta-cognitive patterns. Systems Thinking reveals whether leaders can map complex interdependencies — not just talk about them.</a:t>
            </a:r>
            <a:endParaRPr lang="en-US" sz="1400" dirty="0"/>
          </a:p>
        </p:txBody>
      </p:sp>
      <p:sp>
        <p:nvSpPr>
          <p:cNvPr id="28" name="Shape 26"/>
          <p:cNvSpPr/>
          <p:nvPr/>
        </p:nvSpPr>
        <p:spPr>
          <a:xfrm>
            <a:off x="548640" y="5989320"/>
            <a:ext cx="73152" cy="365760"/>
          </a:xfrm>
          <a:prstGeom prst="rect">
            <a:avLst/>
          </a:prstGeom>
          <a:solidFill>
            <a:srgbClr val="2563EB"/>
          </a:solidFill>
          <a:ln w="12700">
            <a:solidFill>
              <a:srgbClr val="2563EB"/>
            </a:solidFill>
            <a:prstDash val="solid"/>
          </a:ln>
        </p:spPr>
        <p:txBody>
          <a:bodyPr/>
          <a:lstStyle/>
          <a:p>
            <a:endParaRPr lang="en-US"/>
          </a:p>
        </p:txBody>
      </p:sp>
      <p:sp>
        <p:nvSpPr>
          <p:cNvPr id="29" name="Text 27"/>
          <p:cNvSpPr/>
          <p:nvPr/>
        </p:nvSpPr>
        <p:spPr>
          <a:xfrm>
            <a:off x="777240" y="5989320"/>
            <a:ext cx="10789920" cy="365760"/>
          </a:xfrm>
          <a:prstGeom prst="rect">
            <a:avLst/>
          </a:prstGeom>
          <a:noFill/>
          <a:ln/>
        </p:spPr>
        <p:txBody>
          <a:bodyPr wrap="square" lIns="0" tIns="0" rIns="0" bIns="0" rtlCol="0" anchor="ctr"/>
          <a:lstStyle/>
          <a:p>
            <a:pPr marL="0" indent="0">
              <a:buNone/>
            </a:pPr>
            <a:r>
              <a:rPr lang="en-US" sz="1400" i="1" dirty="0">
                <a:solidFill>
                  <a:srgbClr val="0F172A"/>
                </a:solidFill>
                <a:latin typeface="Calibri" pitchFamily="34" charset="0"/>
                <a:ea typeface="Calibri" pitchFamily="34" charset="-122"/>
                <a:cs typeface="Calibri" pitchFamily="34" charset="-120"/>
              </a:rPr>
              <a:t>Mix and match any modules to fit the role — scenarios adapt to sector, role, and seniority automatically.</a:t>
            </a:r>
            <a:endParaRPr lang="en-US" sz="1400" dirty="0"/>
          </a:p>
        </p:txBody>
      </p:sp>
      <p:sp>
        <p:nvSpPr>
          <p:cNvPr id="30" name="Text 28"/>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TALENS  ·  AI-Native Assessment Platform</a:t>
            </a:r>
            <a:endParaRPr lang="en-US" sz="900" dirty="0"/>
          </a:p>
        </p:txBody>
      </p:sp>
      <p:sp>
        <p:nvSpPr>
          <p:cNvPr id="32" name="Text 27">
            <a:extLst>
              <a:ext uri="{FF2B5EF4-FFF2-40B4-BE49-F238E27FC236}">
                <a16:creationId xmlns:a16="http://schemas.microsoft.com/office/drawing/2014/main" id="{FB78BED9-EA26-E67B-F379-917E319C55F2}"/>
              </a:ext>
            </a:extLst>
          </p:cNvPr>
          <p:cNvSpPr/>
          <p:nvPr/>
        </p:nvSpPr>
        <p:spPr>
          <a:xfrm>
            <a:off x="11155680" y="6419504"/>
            <a:ext cx="822960" cy="274320"/>
          </a:xfrm>
          <a:prstGeom prst="rect">
            <a:avLst/>
          </a:prstGeom>
          <a:noFill/>
          <a:ln/>
        </p:spPr>
        <p:txBody>
          <a:bodyPr wrap="square" lIns="0" tIns="0" rIns="0" bIns="0" rtlCol="0" anchor="ctr"/>
          <a:lstStyle/>
          <a:p>
            <a:pPr marL="0" indent="0" algn="r">
              <a:buNone/>
            </a:pPr>
            <a:fld id="{6F2FAB83-15A9-4446-A83E-37BCA0A0EBC9}" type="slidenum">
              <a:rPr lang="en-US" sz="900" smtClean="0">
                <a:solidFill>
                  <a:srgbClr val="64748B"/>
                </a:solidFill>
                <a:latin typeface="Calibri" pitchFamily="34" charset="0"/>
                <a:ea typeface="Calibri" pitchFamily="34" charset="-122"/>
                <a:cs typeface="Calibri" pitchFamily="34" charset="-120"/>
              </a:rPr>
              <a:t>6</a:t>
            </a:fld>
            <a:r>
              <a:rPr lang="en-US" sz="900" dirty="0">
                <a:solidFill>
                  <a:srgbClr val="64748B"/>
                </a:solidFill>
                <a:latin typeface="Calibri" pitchFamily="34" charset="0"/>
                <a:ea typeface="Calibri" pitchFamily="34" charset="-122"/>
                <a:cs typeface="Calibri" pitchFamily="34" charset="-120"/>
              </a:rPr>
              <a:t> </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114CA92-9677-68D0-8F8F-8ACB680CA39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1EE812E-0E34-88B8-E3B6-19C0613BCCD9}"/>
              </a:ext>
            </a:extLst>
          </p:cNvPr>
          <p:cNvSpPr/>
          <p:nvPr/>
        </p:nvSpPr>
        <p:spPr>
          <a:xfrm>
            <a:off x="548640" y="502920"/>
            <a:ext cx="10972800" cy="274320"/>
          </a:xfrm>
          <a:prstGeom prst="rect">
            <a:avLst/>
          </a:prstGeom>
          <a:noFill/>
          <a:ln/>
        </p:spPr>
        <p:txBody>
          <a:bodyPr wrap="square" lIns="0" tIns="0" rIns="0" bIns="0" rtlCol="0" anchor="ctr"/>
          <a:lstStyle/>
          <a:p>
            <a:pPr marL="0" indent="0">
              <a:buNone/>
            </a:pPr>
            <a:r>
              <a:rPr lang="en-US" sz="1200" b="1" kern="0" cap="all" spc="400" dirty="0">
                <a:solidFill>
                  <a:srgbClr val="2563EB"/>
                </a:solidFill>
                <a:latin typeface="Calibri" pitchFamily="34" charset="0"/>
                <a:cs typeface="Calibri" pitchFamily="34" charset="-120"/>
              </a:rPr>
              <a:t>How to work with TALENS</a:t>
            </a:r>
            <a:endParaRPr lang="en-US" sz="1200" cap="all" dirty="0"/>
          </a:p>
        </p:txBody>
      </p:sp>
      <p:sp>
        <p:nvSpPr>
          <p:cNvPr id="3" name="Text 1">
            <a:extLst>
              <a:ext uri="{FF2B5EF4-FFF2-40B4-BE49-F238E27FC236}">
                <a16:creationId xmlns:a16="http://schemas.microsoft.com/office/drawing/2014/main" id="{B9C779B0-BA24-22D0-128B-D593AA206A29}"/>
              </a:ext>
            </a:extLst>
          </p:cNvPr>
          <p:cNvSpPr/>
          <p:nvPr/>
        </p:nvSpPr>
        <p:spPr>
          <a:xfrm>
            <a:off x="548640" y="777240"/>
            <a:ext cx="10972800" cy="822960"/>
          </a:xfrm>
          <a:prstGeom prst="rect">
            <a:avLst/>
          </a:prstGeom>
          <a:noFill/>
          <a:ln/>
        </p:spPr>
        <p:txBody>
          <a:bodyPr wrap="square" lIns="0" tIns="0" rIns="0" bIns="0" rtlCol="0" anchor="ctr"/>
          <a:lstStyle/>
          <a:p>
            <a:pPr marL="0" indent="0">
              <a:buNone/>
            </a:pPr>
            <a:r>
              <a:rPr lang="en-US" sz="3400" b="1" dirty="0">
                <a:solidFill>
                  <a:srgbClr val="0F172A"/>
                </a:solidFill>
                <a:latin typeface="Georgia" pitchFamily="34" charset="0"/>
                <a:ea typeface="Georgia" pitchFamily="34" charset="-122"/>
                <a:cs typeface="Georgia" pitchFamily="34" charset="-120"/>
              </a:rPr>
              <a:t>People Leading TALENS</a:t>
            </a:r>
            <a:endParaRPr lang="en-US" sz="3400" dirty="0"/>
          </a:p>
        </p:txBody>
      </p:sp>
      <p:sp>
        <p:nvSpPr>
          <p:cNvPr id="4" name="Text 2">
            <a:extLst>
              <a:ext uri="{FF2B5EF4-FFF2-40B4-BE49-F238E27FC236}">
                <a16:creationId xmlns:a16="http://schemas.microsoft.com/office/drawing/2014/main" id="{91078E10-0EA6-973F-025D-7A08D313DF58}"/>
              </a:ext>
            </a:extLst>
          </p:cNvPr>
          <p:cNvSpPr/>
          <p:nvPr/>
        </p:nvSpPr>
        <p:spPr>
          <a:xfrm>
            <a:off x="548640" y="1508760"/>
            <a:ext cx="10268296" cy="640080"/>
          </a:xfrm>
          <a:prstGeom prst="rect">
            <a:avLst/>
          </a:prstGeom>
          <a:noFill/>
          <a:ln/>
        </p:spPr>
        <p:txBody>
          <a:bodyPr wrap="square" lIns="0" tIns="0" rIns="0" bIns="0" rtlCol="0" anchor="ctr"/>
          <a:lstStyle/>
          <a:p>
            <a:pPr marL="0" indent="0">
              <a:buNone/>
            </a:pPr>
            <a:r>
              <a:rPr lang="en-US" sz="1400" b="1" dirty="0">
                <a:solidFill>
                  <a:srgbClr val="0F172A"/>
                </a:solidFill>
                <a:latin typeface="Georgia" pitchFamily="34" charset="0"/>
                <a:ea typeface="Georgia" pitchFamily="34" charset="-122"/>
                <a:cs typeface="Georgia" pitchFamily="34" charset="-120"/>
              </a:rPr>
              <a:t>Deep expertise across research, design, engineering, and product strategy  built to move fast and deliver real competitive advantage.</a:t>
            </a:r>
            <a:endParaRPr lang="en-US" sz="1400" dirty="0"/>
          </a:p>
        </p:txBody>
      </p:sp>
      <p:sp>
        <p:nvSpPr>
          <p:cNvPr id="5" name="Shape 3">
            <a:extLst>
              <a:ext uri="{FF2B5EF4-FFF2-40B4-BE49-F238E27FC236}">
                <a16:creationId xmlns:a16="http://schemas.microsoft.com/office/drawing/2014/main" id="{7F4921E1-1306-BF22-FDC2-46DF1DF597B1}"/>
              </a:ext>
            </a:extLst>
          </p:cNvPr>
          <p:cNvSpPr/>
          <p:nvPr/>
        </p:nvSpPr>
        <p:spPr>
          <a:xfrm>
            <a:off x="594359" y="2240280"/>
            <a:ext cx="10268296" cy="1661299"/>
          </a:xfrm>
          <a:prstGeom prst="rect">
            <a:avLst/>
          </a:prstGeom>
          <a:solidFill>
            <a:srgbClr val="F8FAFC"/>
          </a:solidFill>
          <a:ln w="9525">
            <a:solidFill>
              <a:srgbClr val="E2E8F0"/>
            </a:solidFill>
            <a:prstDash val="solid"/>
          </a:ln>
          <a:effectLst>
            <a:outerShdw blurRad="101600" dist="25400" dir="5400000" algn="bl" rotWithShape="0">
              <a:srgbClr val="0F172A">
                <a:alpha val="6000"/>
              </a:srgbClr>
            </a:outerShdw>
          </a:effectLst>
        </p:spPr>
        <p:txBody>
          <a:bodyPr/>
          <a:lstStyle/>
          <a:p>
            <a:endParaRPr lang="en-US"/>
          </a:p>
        </p:txBody>
      </p:sp>
      <p:sp>
        <p:nvSpPr>
          <p:cNvPr id="6" name="Shape 4">
            <a:extLst>
              <a:ext uri="{FF2B5EF4-FFF2-40B4-BE49-F238E27FC236}">
                <a16:creationId xmlns:a16="http://schemas.microsoft.com/office/drawing/2014/main" id="{5FDA2D9F-8631-6C94-A0A8-DD2C2D0DF5BA}"/>
              </a:ext>
            </a:extLst>
          </p:cNvPr>
          <p:cNvSpPr/>
          <p:nvPr/>
        </p:nvSpPr>
        <p:spPr>
          <a:xfrm>
            <a:off x="548640" y="2240280"/>
            <a:ext cx="45719" cy="1619320"/>
          </a:xfrm>
          <a:prstGeom prst="rect">
            <a:avLst/>
          </a:prstGeom>
          <a:solidFill>
            <a:srgbClr val="2563EB"/>
          </a:solidFill>
          <a:ln w="12700">
            <a:solidFill>
              <a:srgbClr val="2563EB"/>
            </a:solidFill>
            <a:prstDash val="solid"/>
          </a:ln>
        </p:spPr>
        <p:txBody>
          <a:bodyPr/>
          <a:lstStyle/>
          <a:p>
            <a:endParaRPr lang="en-US"/>
          </a:p>
        </p:txBody>
      </p:sp>
      <p:sp>
        <p:nvSpPr>
          <p:cNvPr id="7" name="Text 5">
            <a:extLst>
              <a:ext uri="{FF2B5EF4-FFF2-40B4-BE49-F238E27FC236}">
                <a16:creationId xmlns:a16="http://schemas.microsoft.com/office/drawing/2014/main" id="{713E6903-7096-952E-AEED-1B4643A3DE2A}"/>
              </a:ext>
            </a:extLst>
          </p:cNvPr>
          <p:cNvSpPr/>
          <p:nvPr/>
        </p:nvSpPr>
        <p:spPr>
          <a:xfrm>
            <a:off x="731520" y="2244851"/>
            <a:ext cx="5303520" cy="320040"/>
          </a:xfrm>
          <a:prstGeom prst="rect">
            <a:avLst/>
          </a:prstGeom>
          <a:noFill/>
          <a:ln/>
        </p:spPr>
        <p:txBody>
          <a:bodyPr wrap="square" lIns="0" tIns="0" rIns="0" bIns="0" rtlCol="0" anchor="ctr"/>
          <a:lstStyle/>
          <a:p>
            <a:pPr marL="0" indent="0">
              <a:buNone/>
            </a:pPr>
            <a:r>
              <a:rPr lang="en-US" sz="1400" b="1" dirty="0">
                <a:solidFill>
                  <a:srgbClr val="2563EB"/>
                </a:solidFill>
                <a:latin typeface="Georgia" pitchFamily="34" charset="0"/>
                <a:ea typeface="Georgia" pitchFamily="34" charset="-122"/>
                <a:cs typeface="Georgia" pitchFamily="34" charset="-120"/>
              </a:rPr>
              <a:t>Giuseppe Capozzo</a:t>
            </a:r>
            <a:endParaRPr lang="en-US" sz="1400" dirty="0"/>
          </a:p>
        </p:txBody>
      </p:sp>
      <p:sp>
        <p:nvSpPr>
          <p:cNvPr id="9" name="Shape 7">
            <a:extLst>
              <a:ext uri="{FF2B5EF4-FFF2-40B4-BE49-F238E27FC236}">
                <a16:creationId xmlns:a16="http://schemas.microsoft.com/office/drawing/2014/main" id="{D52A27AC-30C9-D080-E5EE-016FB3A914BE}"/>
              </a:ext>
            </a:extLst>
          </p:cNvPr>
          <p:cNvSpPr/>
          <p:nvPr/>
        </p:nvSpPr>
        <p:spPr>
          <a:xfrm>
            <a:off x="548640" y="4088202"/>
            <a:ext cx="10268296" cy="1535356"/>
          </a:xfrm>
          <a:prstGeom prst="rect">
            <a:avLst/>
          </a:prstGeom>
          <a:solidFill>
            <a:srgbClr val="F8FAFC"/>
          </a:solidFill>
          <a:ln w="9525">
            <a:solidFill>
              <a:srgbClr val="E2E8F0"/>
            </a:solidFill>
            <a:prstDash val="solid"/>
          </a:ln>
          <a:effectLst>
            <a:outerShdw blurRad="101600" dist="25400" dir="5400000" algn="bl" rotWithShape="0">
              <a:srgbClr val="0F172A">
                <a:alpha val="6000"/>
              </a:srgbClr>
            </a:outerShdw>
          </a:effectLst>
        </p:spPr>
        <p:txBody>
          <a:bodyPr/>
          <a:lstStyle/>
          <a:p>
            <a:endParaRPr lang="en-US"/>
          </a:p>
        </p:txBody>
      </p:sp>
      <p:sp>
        <p:nvSpPr>
          <p:cNvPr id="10" name="Shape 8">
            <a:extLst>
              <a:ext uri="{FF2B5EF4-FFF2-40B4-BE49-F238E27FC236}">
                <a16:creationId xmlns:a16="http://schemas.microsoft.com/office/drawing/2014/main" id="{65148654-ADD5-8F8C-7D83-F1EABB54E904}"/>
              </a:ext>
            </a:extLst>
          </p:cNvPr>
          <p:cNvSpPr/>
          <p:nvPr/>
        </p:nvSpPr>
        <p:spPr>
          <a:xfrm>
            <a:off x="548640" y="4099421"/>
            <a:ext cx="45719" cy="1524137"/>
          </a:xfrm>
          <a:prstGeom prst="rect">
            <a:avLst/>
          </a:prstGeom>
          <a:solidFill>
            <a:srgbClr val="2563EB"/>
          </a:solidFill>
          <a:ln w="12700">
            <a:solidFill>
              <a:srgbClr val="2563EB"/>
            </a:solidFill>
            <a:prstDash val="solid"/>
          </a:ln>
        </p:spPr>
        <p:txBody>
          <a:bodyPr/>
          <a:lstStyle/>
          <a:p>
            <a:endParaRPr lang="en-US"/>
          </a:p>
        </p:txBody>
      </p:sp>
      <p:sp>
        <p:nvSpPr>
          <p:cNvPr id="11" name="Text 9">
            <a:extLst>
              <a:ext uri="{FF2B5EF4-FFF2-40B4-BE49-F238E27FC236}">
                <a16:creationId xmlns:a16="http://schemas.microsoft.com/office/drawing/2014/main" id="{850BEB33-0BFD-707A-A1B7-E9B5EAA7D7AD}"/>
              </a:ext>
            </a:extLst>
          </p:cNvPr>
          <p:cNvSpPr/>
          <p:nvPr/>
        </p:nvSpPr>
        <p:spPr>
          <a:xfrm>
            <a:off x="731520" y="4124361"/>
            <a:ext cx="5303520" cy="320040"/>
          </a:xfrm>
          <a:prstGeom prst="rect">
            <a:avLst/>
          </a:prstGeom>
          <a:noFill/>
          <a:ln/>
        </p:spPr>
        <p:txBody>
          <a:bodyPr wrap="square" lIns="0" tIns="0" rIns="0" bIns="0" rtlCol="0" anchor="ctr"/>
          <a:lstStyle/>
          <a:p>
            <a:pPr marL="0" indent="0">
              <a:buNone/>
            </a:pPr>
            <a:r>
              <a:rPr lang="en-US" sz="1400" b="1" dirty="0">
                <a:solidFill>
                  <a:srgbClr val="2563EB"/>
                </a:solidFill>
                <a:latin typeface="Georgia" pitchFamily="34" charset="0"/>
              </a:rPr>
              <a:t>Yari </a:t>
            </a:r>
            <a:r>
              <a:rPr lang="en-US" sz="1400" b="1" dirty="0" err="1">
                <a:solidFill>
                  <a:srgbClr val="2563EB"/>
                </a:solidFill>
                <a:latin typeface="Georgia" pitchFamily="34" charset="0"/>
              </a:rPr>
              <a:t>D’areglia</a:t>
            </a:r>
            <a:endParaRPr lang="en-US" sz="1400" dirty="0"/>
          </a:p>
        </p:txBody>
      </p:sp>
      <p:sp>
        <p:nvSpPr>
          <p:cNvPr id="12" name="Text 10">
            <a:extLst>
              <a:ext uri="{FF2B5EF4-FFF2-40B4-BE49-F238E27FC236}">
                <a16:creationId xmlns:a16="http://schemas.microsoft.com/office/drawing/2014/main" id="{91BE931C-9B6D-8FD4-0953-36B8EBF8CC77}"/>
              </a:ext>
            </a:extLst>
          </p:cNvPr>
          <p:cNvSpPr/>
          <p:nvPr/>
        </p:nvSpPr>
        <p:spPr>
          <a:xfrm>
            <a:off x="731520" y="4444401"/>
            <a:ext cx="9966544" cy="1104344"/>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Over 20 years of hands-on experience across the full spectrum of IT, from backend engineering and gaming to large-scale enterprise systems. Yari has designed and managed complex infrastructures serving hundreds of thousands of concurrent users, where performance, reliability, and scalability were non-negotiable. A passionate early adopter of emerging technologies, he brings deep practical expertise in Artificial Intelligence and immersive digital experiences. Within TALENS, he is the driving force behind the platform’s architecture, ensuring that every component is built for speed, resilience, and seamless growth as the product scales to meet market demand.</a:t>
            </a:r>
            <a:endParaRPr lang="en-US" sz="1400" dirty="0"/>
          </a:p>
        </p:txBody>
      </p:sp>
      <p:sp>
        <p:nvSpPr>
          <p:cNvPr id="36" name="Shape 31">
            <a:extLst>
              <a:ext uri="{FF2B5EF4-FFF2-40B4-BE49-F238E27FC236}">
                <a16:creationId xmlns:a16="http://schemas.microsoft.com/office/drawing/2014/main" id="{C5E2C80F-5BF8-8708-3EB3-29BB4BCB84E1}"/>
              </a:ext>
            </a:extLst>
          </p:cNvPr>
          <p:cNvSpPr/>
          <p:nvPr/>
        </p:nvSpPr>
        <p:spPr>
          <a:xfrm>
            <a:off x="548640" y="5852160"/>
            <a:ext cx="11155680" cy="457200"/>
          </a:xfrm>
          <a:prstGeom prst="rect">
            <a:avLst/>
          </a:prstGeom>
          <a:solidFill>
            <a:srgbClr val="DBEAFE"/>
          </a:solidFill>
          <a:ln w="12700">
            <a:solidFill>
              <a:srgbClr val="DBEAFE"/>
            </a:solidFill>
            <a:prstDash val="solid"/>
          </a:ln>
        </p:spPr>
        <p:txBody>
          <a:bodyPr/>
          <a:lstStyle/>
          <a:p>
            <a:endParaRPr lang="en-US"/>
          </a:p>
        </p:txBody>
      </p:sp>
      <p:sp>
        <p:nvSpPr>
          <p:cNvPr id="37" name="Text 32">
            <a:extLst>
              <a:ext uri="{FF2B5EF4-FFF2-40B4-BE49-F238E27FC236}">
                <a16:creationId xmlns:a16="http://schemas.microsoft.com/office/drawing/2014/main" id="{E757225D-2996-93F7-06D3-406268BB205D}"/>
              </a:ext>
            </a:extLst>
          </p:cNvPr>
          <p:cNvSpPr/>
          <p:nvPr/>
        </p:nvSpPr>
        <p:spPr>
          <a:xfrm>
            <a:off x="777240" y="5852160"/>
            <a:ext cx="10789920" cy="457200"/>
          </a:xfrm>
          <a:prstGeom prst="rect">
            <a:avLst/>
          </a:prstGeom>
          <a:noFill/>
          <a:ln/>
        </p:spPr>
        <p:txBody>
          <a:bodyPr wrap="square" lIns="0" tIns="0" rIns="0" bIns="0" rtlCol="0" anchor="ctr"/>
          <a:lstStyle/>
          <a:p>
            <a:pPr marL="0" indent="0">
              <a:buNone/>
            </a:pPr>
            <a:endParaRPr lang="en-US" sz="1100" dirty="0"/>
          </a:p>
        </p:txBody>
      </p:sp>
      <p:sp>
        <p:nvSpPr>
          <p:cNvPr id="38" name="Text 33">
            <a:extLst>
              <a:ext uri="{FF2B5EF4-FFF2-40B4-BE49-F238E27FC236}">
                <a16:creationId xmlns:a16="http://schemas.microsoft.com/office/drawing/2014/main" id="{3789677A-57F2-CC2A-A87C-B93B36ECA7CF}"/>
              </a:ext>
            </a:extLst>
          </p:cNvPr>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TALENS  ·  AI-Native Assessment Platform</a:t>
            </a:r>
            <a:endParaRPr lang="en-US" sz="900" dirty="0"/>
          </a:p>
        </p:txBody>
      </p:sp>
      <p:sp>
        <p:nvSpPr>
          <p:cNvPr id="41" name="Text 10">
            <a:extLst>
              <a:ext uri="{FF2B5EF4-FFF2-40B4-BE49-F238E27FC236}">
                <a16:creationId xmlns:a16="http://schemas.microsoft.com/office/drawing/2014/main" id="{4DFA89E8-339E-6D93-440C-041E659D2C89}"/>
              </a:ext>
            </a:extLst>
          </p:cNvPr>
          <p:cNvSpPr/>
          <p:nvPr/>
        </p:nvSpPr>
        <p:spPr>
          <a:xfrm>
            <a:off x="731520" y="2547435"/>
            <a:ext cx="9966544" cy="1161293"/>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Giuseppe holds a PhD in Human-Computer Interaction and has over 20 years of industry experience across interaction design, user experience, usability, and interactive technologies. He combines deep technical expertise, creative sensibility, and strategic product vision, having led complex products from early ideation to market launch and continuous evolution. Within TALENS, he designs the assessment framework that defines how AI evaluates competencies with scientific rigor, while leading the project’s communication strategy to ensure the platform conveys its value clearly and compellingly to every stakeholder.</a:t>
            </a:r>
            <a:endParaRPr lang="en-US" sz="1400" dirty="0"/>
          </a:p>
        </p:txBody>
      </p:sp>
      <p:sp>
        <p:nvSpPr>
          <p:cNvPr id="42" name="Text 27">
            <a:extLst>
              <a:ext uri="{FF2B5EF4-FFF2-40B4-BE49-F238E27FC236}">
                <a16:creationId xmlns:a16="http://schemas.microsoft.com/office/drawing/2014/main" id="{94ABDFAF-A6B9-6232-EFC1-A4B9E4F332A8}"/>
              </a:ext>
            </a:extLst>
          </p:cNvPr>
          <p:cNvSpPr/>
          <p:nvPr/>
        </p:nvSpPr>
        <p:spPr>
          <a:xfrm>
            <a:off x="11109960" y="6375862"/>
            <a:ext cx="822960" cy="274320"/>
          </a:xfrm>
          <a:prstGeom prst="rect">
            <a:avLst/>
          </a:prstGeom>
          <a:noFill/>
          <a:ln/>
        </p:spPr>
        <p:txBody>
          <a:bodyPr wrap="square" lIns="0" tIns="0" rIns="0" bIns="0" rtlCol="0" anchor="ctr"/>
          <a:lstStyle/>
          <a:p>
            <a:pPr marL="0" indent="0" algn="r">
              <a:buNone/>
            </a:pPr>
            <a:fld id="{6F2FAB83-15A9-4446-A83E-37BCA0A0EBC9}" type="slidenum">
              <a:rPr lang="en-US" sz="900" smtClean="0">
                <a:solidFill>
                  <a:srgbClr val="64748B"/>
                </a:solidFill>
                <a:latin typeface="Calibri" pitchFamily="34" charset="0"/>
                <a:ea typeface="Calibri" pitchFamily="34" charset="-122"/>
                <a:cs typeface="Calibri" pitchFamily="34" charset="-120"/>
              </a:rPr>
              <a:t>7</a:t>
            </a:fld>
            <a:r>
              <a:rPr lang="en-US" sz="900" dirty="0">
                <a:solidFill>
                  <a:srgbClr val="64748B"/>
                </a:solidFill>
                <a:latin typeface="Calibri" pitchFamily="34" charset="0"/>
                <a:ea typeface="Calibri" pitchFamily="34" charset="-122"/>
                <a:cs typeface="Calibri" pitchFamily="34" charset="-120"/>
              </a:rPr>
              <a:t> </a:t>
            </a:r>
            <a:endParaRPr lang="en-US" sz="900" dirty="0"/>
          </a:p>
        </p:txBody>
      </p:sp>
    </p:spTree>
    <p:extLst>
      <p:ext uri="{BB962C8B-B14F-4D97-AF65-F5344CB8AC3E}">
        <p14:creationId xmlns:p14="http://schemas.microsoft.com/office/powerpoint/2010/main" val="264431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AEDBC9F-4182-F182-4FC2-36CBA491F82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957C722-DC88-5926-CEA6-9EF1D270D044}"/>
              </a:ext>
            </a:extLst>
          </p:cNvPr>
          <p:cNvSpPr/>
          <p:nvPr/>
        </p:nvSpPr>
        <p:spPr>
          <a:xfrm>
            <a:off x="548640" y="502920"/>
            <a:ext cx="10972800" cy="274320"/>
          </a:xfrm>
          <a:prstGeom prst="rect">
            <a:avLst/>
          </a:prstGeom>
          <a:noFill/>
          <a:ln/>
        </p:spPr>
        <p:txBody>
          <a:bodyPr wrap="square" lIns="0" tIns="0" rIns="0" bIns="0" rtlCol="0" anchor="ctr"/>
          <a:lstStyle/>
          <a:p>
            <a:pPr marL="0" indent="0">
              <a:buNone/>
            </a:pPr>
            <a:r>
              <a:rPr lang="en-US" sz="1200" b="1" kern="0" cap="all" spc="400" dirty="0">
                <a:solidFill>
                  <a:srgbClr val="2563EB"/>
                </a:solidFill>
                <a:latin typeface="Calibri" pitchFamily="34" charset="0"/>
                <a:cs typeface="Calibri" pitchFamily="34" charset="-120"/>
              </a:rPr>
              <a:t>How to work with TALENS</a:t>
            </a:r>
            <a:endParaRPr lang="en-US" sz="1200" cap="all" dirty="0"/>
          </a:p>
        </p:txBody>
      </p:sp>
      <p:sp>
        <p:nvSpPr>
          <p:cNvPr id="3" name="Text 1">
            <a:extLst>
              <a:ext uri="{FF2B5EF4-FFF2-40B4-BE49-F238E27FC236}">
                <a16:creationId xmlns:a16="http://schemas.microsoft.com/office/drawing/2014/main" id="{E713003A-7773-4F2B-591C-522BECE8001D}"/>
              </a:ext>
            </a:extLst>
          </p:cNvPr>
          <p:cNvSpPr/>
          <p:nvPr/>
        </p:nvSpPr>
        <p:spPr>
          <a:xfrm>
            <a:off x="548640" y="777240"/>
            <a:ext cx="10972800" cy="822960"/>
          </a:xfrm>
          <a:prstGeom prst="rect">
            <a:avLst/>
          </a:prstGeom>
          <a:noFill/>
          <a:ln/>
        </p:spPr>
        <p:txBody>
          <a:bodyPr wrap="square" lIns="0" tIns="0" rIns="0" bIns="0" rtlCol="0" anchor="ctr"/>
          <a:lstStyle/>
          <a:p>
            <a:pPr marL="0" indent="0">
              <a:buNone/>
            </a:pPr>
            <a:r>
              <a:rPr lang="en-US" sz="3400" b="1" dirty="0">
                <a:solidFill>
                  <a:srgbClr val="0F172A"/>
                </a:solidFill>
                <a:latin typeface="Georgia" pitchFamily="34" charset="0"/>
                <a:ea typeface="Georgia" pitchFamily="34" charset="-122"/>
                <a:cs typeface="Georgia" pitchFamily="34" charset="-120"/>
              </a:rPr>
              <a:t>TALENS business model</a:t>
            </a:r>
            <a:endParaRPr lang="en-US" sz="3400" dirty="0"/>
          </a:p>
        </p:txBody>
      </p:sp>
      <p:sp>
        <p:nvSpPr>
          <p:cNvPr id="4" name="Text 2">
            <a:extLst>
              <a:ext uri="{FF2B5EF4-FFF2-40B4-BE49-F238E27FC236}">
                <a16:creationId xmlns:a16="http://schemas.microsoft.com/office/drawing/2014/main" id="{196F5F13-75E0-B1B9-04AE-9A7120680A77}"/>
              </a:ext>
            </a:extLst>
          </p:cNvPr>
          <p:cNvSpPr/>
          <p:nvPr/>
        </p:nvSpPr>
        <p:spPr>
          <a:xfrm>
            <a:off x="548640" y="1783080"/>
            <a:ext cx="5669280" cy="365760"/>
          </a:xfrm>
          <a:prstGeom prst="rect">
            <a:avLst/>
          </a:prstGeom>
          <a:noFill/>
          <a:ln/>
        </p:spPr>
        <p:txBody>
          <a:bodyPr wrap="square" lIns="0" tIns="0" rIns="0" bIns="0" rtlCol="0" anchor="ctr"/>
          <a:lstStyle/>
          <a:p>
            <a:pPr marL="0" indent="0">
              <a:buNone/>
            </a:pPr>
            <a:r>
              <a:rPr lang="en-US" sz="1400" b="1" dirty="0">
                <a:solidFill>
                  <a:srgbClr val="0F172A"/>
                </a:solidFill>
                <a:latin typeface="Georgia" pitchFamily="34" charset="0"/>
                <a:ea typeface="Georgia" pitchFamily="34" charset="-122"/>
                <a:cs typeface="Georgia" pitchFamily="34" charset="-120"/>
              </a:rPr>
              <a:t>Flexible solutions for client companies </a:t>
            </a:r>
            <a:endParaRPr lang="en-US" sz="1400" dirty="0"/>
          </a:p>
        </p:txBody>
      </p:sp>
      <p:sp>
        <p:nvSpPr>
          <p:cNvPr id="5" name="Shape 3">
            <a:extLst>
              <a:ext uri="{FF2B5EF4-FFF2-40B4-BE49-F238E27FC236}">
                <a16:creationId xmlns:a16="http://schemas.microsoft.com/office/drawing/2014/main" id="{6F13D1C8-C5B1-0D8B-C116-BB648F8CEF80}"/>
              </a:ext>
            </a:extLst>
          </p:cNvPr>
          <p:cNvSpPr/>
          <p:nvPr/>
        </p:nvSpPr>
        <p:spPr>
          <a:xfrm>
            <a:off x="548640" y="2240280"/>
            <a:ext cx="10268296" cy="1005840"/>
          </a:xfrm>
          <a:prstGeom prst="rect">
            <a:avLst/>
          </a:prstGeom>
          <a:solidFill>
            <a:srgbClr val="F8FAFC"/>
          </a:solidFill>
          <a:ln w="9525">
            <a:solidFill>
              <a:srgbClr val="E2E8F0"/>
            </a:solidFill>
            <a:prstDash val="solid"/>
          </a:ln>
          <a:effectLst>
            <a:outerShdw blurRad="101600" dist="25400" dir="5400000" algn="bl" rotWithShape="0">
              <a:srgbClr val="0F172A">
                <a:alpha val="6000"/>
              </a:srgbClr>
            </a:outerShdw>
          </a:effectLst>
        </p:spPr>
        <p:txBody>
          <a:bodyPr/>
          <a:lstStyle/>
          <a:p>
            <a:endParaRPr lang="en-US" dirty="0"/>
          </a:p>
        </p:txBody>
      </p:sp>
      <p:sp>
        <p:nvSpPr>
          <p:cNvPr id="6" name="Shape 4">
            <a:extLst>
              <a:ext uri="{FF2B5EF4-FFF2-40B4-BE49-F238E27FC236}">
                <a16:creationId xmlns:a16="http://schemas.microsoft.com/office/drawing/2014/main" id="{F7986935-3D9A-25EA-EF56-652A467325E3}"/>
              </a:ext>
            </a:extLst>
          </p:cNvPr>
          <p:cNvSpPr/>
          <p:nvPr/>
        </p:nvSpPr>
        <p:spPr>
          <a:xfrm>
            <a:off x="548640" y="2240280"/>
            <a:ext cx="73152" cy="1005840"/>
          </a:xfrm>
          <a:prstGeom prst="rect">
            <a:avLst/>
          </a:prstGeom>
          <a:solidFill>
            <a:srgbClr val="2563EB"/>
          </a:solidFill>
          <a:ln w="12700">
            <a:solidFill>
              <a:srgbClr val="2563EB"/>
            </a:solidFill>
            <a:prstDash val="solid"/>
          </a:ln>
        </p:spPr>
        <p:txBody>
          <a:bodyPr/>
          <a:lstStyle/>
          <a:p>
            <a:endParaRPr lang="en-US"/>
          </a:p>
        </p:txBody>
      </p:sp>
      <p:sp>
        <p:nvSpPr>
          <p:cNvPr id="7" name="Text 5">
            <a:extLst>
              <a:ext uri="{FF2B5EF4-FFF2-40B4-BE49-F238E27FC236}">
                <a16:creationId xmlns:a16="http://schemas.microsoft.com/office/drawing/2014/main" id="{F93A56E4-BDB4-ABFF-E27B-DB8F84B28688}"/>
              </a:ext>
            </a:extLst>
          </p:cNvPr>
          <p:cNvSpPr/>
          <p:nvPr/>
        </p:nvSpPr>
        <p:spPr>
          <a:xfrm>
            <a:off x="777240" y="2350008"/>
            <a:ext cx="5303520" cy="320040"/>
          </a:xfrm>
          <a:prstGeom prst="rect">
            <a:avLst/>
          </a:prstGeom>
          <a:noFill/>
          <a:ln/>
        </p:spPr>
        <p:txBody>
          <a:bodyPr wrap="square" lIns="0" tIns="0" rIns="0" bIns="0" rtlCol="0" anchor="ctr"/>
          <a:lstStyle/>
          <a:p>
            <a:pPr marL="0" indent="0">
              <a:buNone/>
            </a:pPr>
            <a:r>
              <a:rPr lang="en-US" sz="1400" b="1" dirty="0">
                <a:solidFill>
                  <a:srgbClr val="2563EB"/>
                </a:solidFill>
                <a:latin typeface="Georgia" pitchFamily="34" charset="0"/>
                <a:ea typeface="Georgia" pitchFamily="34" charset="-122"/>
                <a:cs typeface="Georgia" pitchFamily="34" charset="-120"/>
              </a:rPr>
              <a:t>Managed hosting</a:t>
            </a:r>
            <a:endParaRPr lang="en-US" sz="1400" dirty="0"/>
          </a:p>
        </p:txBody>
      </p:sp>
      <p:sp>
        <p:nvSpPr>
          <p:cNvPr id="8" name="Text 6">
            <a:extLst>
              <a:ext uri="{FF2B5EF4-FFF2-40B4-BE49-F238E27FC236}">
                <a16:creationId xmlns:a16="http://schemas.microsoft.com/office/drawing/2014/main" id="{9E6F29F3-D083-7F5D-BC46-EE91B588E6EB}"/>
              </a:ext>
            </a:extLst>
          </p:cNvPr>
          <p:cNvSpPr/>
          <p:nvPr/>
        </p:nvSpPr>
        <p:spPr>
          <a:xfrm>
            <a:off x="777240" y="2679192"/>
            <a:ext cx="9966544" cy="548640"/>
          </a:xfrm>
          <a:prstGeom prst="rect">
            <a:avLst/>
          </a:prstGeom>
          <a:noFill/>
          <a:ln/>
        </p:spPr>
        <p:txBody>
          <a:bodyPr wrap="square" lIns="0" tIns="0" rIns="0" bIns="0" rtlCol="0" anchor="ctr"/>
          <a:lstStyle/>
          <a:p>
            <a:pPr marL="0" indent="0">
              <a:buNone/>
            </a:pPr>
            <a:r>
              <a:rPr lang="en-US" sz="1400" dirty="0" err="1"/>
              <a:t>Nexent</a:t>
            </a:r>
            <a:r>
              <a:rPr lang="en-US" sz="1400" dirty="0"/>
              <a:t> hosts the licenses for the client company; all external costs included; typically on a candidate or individual test basis.</a:t>
            </a:r>
          </a:p>
        </p:txBody>
      </p:sp>
      <p:sp>
        <p:nvSpPr>
          <p:cNvPr id="9" name="Shape 7">
            <a:extLst>
              <a:ext uri="{FF2B5EF4-FFF2-40B4-BE49-F238E27FC236}">
                <a16:creationId xmlns:a16="http://schemas.microsoft.com/office/drawing/2014/main" id="{F850D954-850B-C719-F9A9-E6AEA52CFA3A}"/>
              </a:ext>
            </a:extLst>
          </p:cNvPr>
          <p:cNvSpPr/>
          <p:nvPr/>
        </p:nvSpPr>
        <p:spPr>
          <a:xfrm>
            <a:off x="548640" y="3383280"/>
            <a:ext cx="10268296" cy="1005840"/>
          </a:xfrm>
          <a:prstGeom prst="rect">
            <a:avLst/>
          </a:prstGeom>
          <a:solidFill>
            <a:srgbClr val="F8FAFC"/>
          </a:solidFill>
          <a:ln w="9525">
            <a:solidFill>
              <a:srgbClr val="E2E8F0"/>
            </a:solidFill>
            <a:prstDash val="solid"/>
          </a:ln>
          <a:effectLst>
            <a:outerShdw blurRad="101600" dist="25400" dir="5400000" algn="bl" rotWithShape="0">
              <a:srgbClr val="0F172A">
                <a:alpha val="6000"/>
              </a:srgbClr>
            </a:outerShdw>
          </a:effectLst>
        </p:spPr>
        <p:txBody>
          <a:bodyPr/>
          <a:lstStyle/>
          <a:p>
            <a:endParaRPr lang="en-US"/>
          </a:p>
        </p:txBody>
      </p:sp>
      <p:sp>
        <p:nvSpPr>
          <p:cNvPr id="10" name="Shape 8">
            <a:extLst>
              <a:ext uri="{FF2B5EF4-FFF2-40B4-BE49-F238E27FC236}">
                <a16:creationId xmlns:a16="http://schemas.microsoft.com/office/drawing/2014/main" id="{EB952E94-CC67-F512-2D66-DDB8634DA6D7}"/>
              </a:ext>
            </a:extLst>
          </p:cNvPr>
          <p:cNvSpPr/>
          <p:nvPr/>
        </p:nvSpPr>
        <p:spPr>
          <a:xfrm>
            <a:off x="548640" y="3383280"/>
            <a:ext cx="73152" cy="1005840"/>
          </a:xfrm>
          <a:prstGeom prst="rect">
            <a:avLst/>
          </a:prstGeom>
          <a:solidFill>
            <a:srgbClr val="2563EB"/>
          </a:solidFill>
          <a:ln w="12700">
            <a:solidFill>
              <a:srgbClr val="2563EB"/>
            </a:solidFill>
            <a:prstDash val="solid"/>
          </a:ln>
        </p:spPr>
        <p:txBody>
          <a:bodyPr/>
          <a:lstStyle/>
          <a:p>
            <a:endParaRPr lang="en-US"/>
          </a:p>
        </p:txBody>
      </p:sp>
      <p:sp>
        <p:nvSpPr>
          <p:cNvPr id="11" name="Text 9">
            <a:extLst>
              <a:ext uri="{FF2B5EF4-FFF2-40B4-BE49-F238E27FC236}">
                <a16:creationId xmlns:a16="http://schemas.microsoft.com/office/drawing/2014/main" id="{0F45B3F2-6C51-1937-0F2C-788BECA51990}"/>
              </a:ext>
            </a:extLst>
          </p:cNvPr>
          <p:cNvSpPr/>
          <p:nvPr/>
        </p:nvSpPr>
        <p:spPr>
          <a:xfrm>
            <a:off x="777240" y="3493008"/>
            <a:ext cx="5303520" cy="320040"/>
          </a:xfrm>
          <a:prstGeom prst="rect">
            <a:avLst/>
          </a:prstGeom>
          <a:noFill/>
          <a:ln/>
        </p:spPr>
        <p:txBody>
          <a:bodyPr wrap="square" lIns="0" tIns="0" rIns="0" bIns="0" rtlCol="0" anchor="ctr"/>
          <a:lstStyle/>
          <a:p>
            <a:pPr marL="0" indent="0">
              <a:buNone/>
            </a:pPr>
            <a:r>
              <a:rPr lang="en-US" sz="1400" b="1" dirty="0">
                <a:solidFill>
                  <a:srgbClr val="2563EB"/>
                </a:solidFill>
                <a:latin typeface="Georgia" pitchFamily="34" charset="0"/>
              </a:rPr>
              <a:t>White label licensing</a:t>
            </a:r>
            <a:endParaRPr lang="en-US" sz="1400" dirty="0"/>
          </a:p>
        </p:txBody>
      </p:sp>
      <p:sp>
        <p:nvSpPr>
          <p:cNvPr id="12" name="Text 10">
            <a:extLst>
              <a:ext uri="{FF2B5EF4-FFF2-40B4-BE49-F238E27FC236}">
                <a16:creationId xmlns:a16="http://schemas.microsoft.com/office/drawing/2014/main" id="{168174D6-7062-EEAC-6ED5-D4050622678E}"/>
              </a:ext>
            </a:extLst>
          </p:cNvPr>
          <p:cNvSpPr/>
          <p:nvPr/>
        </p:nvSpPr>
        <p:spPr>
          <a:xfrm>
            <a:off x="777240" y="3822192"/>
            <a:ext cx="9966544" cy="548640"/>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Platform is installed on client’s cloud, with private brand or co-branded labeling.  License terms flexible</a:t>
            </a:r>
            <a:r>
              <a:rPr lang="en-US" sz="1000" dirty="0">
                <a:solidFill>
                  <a:srgbClr val="0F172A"/>
                </a:solidFill>
                <a:latin typeface="Calibri" pitchFamily="34" charset="0"/>
                <a:ea typeface="Calibri" pitchFamily="34" charset="-122"/>
                <a:cs typeface="Calibri" pitchFamily="34" charset="-120"/>
              </a:rPr>
              <a:t>.</a:t>
            </a:r>
            <a:endParaRPr lang="en-US" sz="1000" dirty="0"/>
          </a:p>
        </p:txBody>
      </p:sp>
      <p:sp>
        <p:nvSpPr>
          <p:cNvPr id="13" name="Shape 11">
            <a:extLst>
              <a:ext uri="{FF2B5EF4-FFF2-40B4-BE49-F238E27FC236}">
                <a16:creationId xmlns:a16="http://schemas.microsoft.com/office/drawing/2014/main" id="{2397583F-069E-0802-A4CF-68F3C1A62CCE}"/>
              </a:ext>
            </a:extLst>
          </p:cNvPr>
          <p:cNvSpPr/>
          <p:nvPr/>
        </p:nvSpPr>
        <p:spPr>
          <a:xfrm>
            <a:off x="585216" y="4453128"/>
            <a:ext cx="10199300" cy="1005840"/>
          </a:xfrm>
          <a:prstGeom prst="rect">
            <a:avLst/>
          </a:prstGeom>
          <a:solidFill>
            <a:srgbClr val="F8FAFC"/>
          </a:solidFill>
          <a:ln w="9525">
            <a:solidFill>
              <a:srgbClr val="E2E8F0"/>
            </a:solidFill>
            <a:prstDash val="solid"/>
          </a:ln>
          <a:effectLst>
            <a:outerShdw blurRad="101600" dist="25400" dir="5400000" algn="bl" rotWithShape="0">
              <a:srgbClr val="0F172A">
                <a:alpha val="6000"/>
              </a:srgbClr>
            </a:outerShdw>
          </a:effectLst>
        </p:spPr>
        <p:txBody>
          <a:bodyPr/>
          <a:lstStyle/>
          <a:p>
            <a:endParaRPr lang="en-US"/>
          </a:p>
        </p:txBody>
      </p:sp>
      <p:sp>
        <p:nvSpPr>
          <p:cNvPr id="14" name="Shape 12">
            <a:extLst>
              <a:ext uri="{FF2B5EF4-FFF2-40B4-BE49-F238E27FC236}">
                <a16:creationId xmlns:a16="http://schemas.microsoft.com/office/drawing/2014/main" id="{8AE7709B-0465-1C3D-A563-8EB65EB2DAF8}"/>
              </a:ext>
            </a:extLst>
          </p:cNvPr>
          <p:cNvSpPr/>
          <p:nvPr/>
        </p:nvSpPr>
        <p:spPr>
          <a:xfrm>
            <a:off x="548640" y="4526280"/>
            <a:ext cx="73152" cy="1005840"/>
          </a:xfrm>
          <a:prstGeom prst="rect">
            <a:avLst/>
          </a:prstGeom>
          <a:solidFill>
            <a:srgbClr val="2563EB"/>
          </a:solidFill>
          <a:ln w="12700">
            <a:solidFill>
              <a:srgbClr val="2563EB"/>
            </a:solidFill>
            <a:prstDash val="solid"/>
          </a:ln>
        </p:spPr>
        <p:txBody>
          <a:bodyPr/>
          <a:lstStyle/>
          <a:p>
            <a:endParaRPr lang="en-US"/>
          </a:p>
        </p:txBody>
      </p:sp>
      <p:sp>
        <p:nvSpPr>
          <p:cNvPr id="15" name="Text 13">
            <a:extLst>
              <a:ext uri="{FF2B5EF4-FFF2-40B4-BE49-F238E27FC236}">
                <a16:creationId xmlns:a16="http://schemas.microsoft.com/office/drawing/2014/main" id="{01FA645D-C988-310D-00EA-0C25AE13DDE8}"/>
              </a:ext>
            </a:extLst>
          </p:cNvPr>
          <p:cNvSpPr/>
          <p:nvPr/>
        </p:nvSpPr>
        <p:spPr>
          <a:xfrm>
            <a:off x="777240" y="4636008"/>
            <a:ext cx="5303520" cy="320040"/>
          </a:xfrm>
          <a:prstGeom prst="rect">
            <a:avLst/>
          </a:prstGeom>
          <a:noFill/>
          <a:ln/>
        </p:spPr>
        <p:txBody>
          <a:bodyPr wrap="square" lIns="0" tIns="0" rIns="0" bIns="0" rtlCol="0" anchor="ctr"/>
          <a:lstStyle/>
          <a:p>
            <a:pPr marL="0" indent="0">
              <a:buNone/>
            </a:pPr>
            <a:r>
              <a:rPr lang="en-US" sz="1400" b="1" dirty="0">
                <a:solidFill>
                  <a:srgbClr val="2563EB"/>
                </a:solidFill>
                <a:latin typeface="Georgia" pitchFamily="34" charset="0"/>
                <a:ea typeface="Georgia" pitchFamily="34" charset="-122"/>
                <a:cs typeface="Georgia" pitchFamily="34" charset="-120"/>
              </a:rPr>
              <a:t>ATS Integrations and other customizations</a:t>
            </a:r>
          </a:p>
        </p:txBody>
      </p:sp>
      <p:sp>
        <p:nvSpPr>
          <p:cNvPr id="16" name="Text 14">
            <a:extLst>
              <a:ext uri="{FF2B5EF4-FFF2-40B4-BE49-F238E27FC236}">
                <a16:creationId xmlns:a16="http://schemas.microsoft.com/office/drawing/2014/main" id="{B0F5DD1C-66A3-72D8-67F4-0E86534F9C04}"/>
              </a:ext>
            </a:extLst>
          </p:cNvPr>
          <p:cNvSpPr/>
          <p:nvPr/>
        </p:nvSpPr>
        <p:spPr>
          <a:xfrm>
            <a:off x="777240" y="4965192"/>
            <a:ext cx="9966544" cy="548640"/>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Optional integrations with ATS for both above models.  Other customization of platform and modules possible.</a:t>
            </a:r>
            <a:endParaRPr lang="en-US" sz="1400" dirty="0"/>
          </a:p>
        </p:txBody>
      </p:sp>
      <p:sp>
        <p:nvSpPr>
          <p:cNvPr id="36" name="Shape 31">
            <a:extLst>
              <a:ext uri="{FF2B5EF4-FFF2-40B4-BE49-F238E27FC236}">
                <a16:creationId xmlns:a16="http://schemas.microsoft.com/office/drawing/2014/main" id="{A7873A99-26ED-FC05-7306-DB8410FA69A5}"/>
              </a:ext>
            </a:extLst>
          </p:cNvPr>
          <p:cNvSpPr/>
          <p:nvPr/>
        </p:nvSpPr>
        <p:spPr>
          <a:xfrm>
            <a:off x="548640" y="5852160"/>
            <a:ext cx="11155680" cy="457200"/>
          </a:xfrm>
          <a:prstGeom prst="rect">
            <a:avLst/>
          </a:prstGeom>
          <a:solidFill>
            <a:srgbClr val="DBEAFE"/>
          </a:solidFill>
          <a:ln w="12700">
            <a:solidFill>
              <a:srgbClr val="DBEAFE"/>
            </a:solidFill>
            <a:prstDash val="solid"/>
          </a:ln>
        </p:spPr>
        <p:txBody>
          <a:bodyPr/>
          <a:lstStyle/>
          <a:p>
            <a:endParaRPr lang="en-US"/>
          </a:p>
        </p:txBody>
      </p:sp>
      <p:sp>
        <p:nvSpPr>
          <p:cNvPr id="38" name="Text 33">
            <a:extLst>
              <a:ext uri="{FF2B5EF4-FFF2-40B4-BE49-F238E27FC236}">
                <a16:creationId xmlns:a16="http://schemas.microsoft.com/office/drawing/2014/main" id="{26CDE5A6-554A-B311-CA6B-A5F15AC77B2E}"/>
              </a:ext>
            </a:extLst>
          </p:cNvPr>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TALENS  ·  AI-Native Assessment Platform</a:t>
            </a:r>
            <a:endParaRPr lang="en-US" sz="900" dirty="0"/>
          </a:p>
        </p:txBody>
      </p:sp>
      <p:sp>
        <p:nvSpPr>
          <p:cNvPr id="18" name="Text 27">
            <a:extLst>
              <a:ext uri="{FF2B5EF4-FFF2-40B4-BE49-F238E27FC236}">
                <a16:creationId xmlns:a16="http://schemas.microsoft.com/office/drawing/2014/main" id="{5A5DA49C-AA2D-D3CB-E1AF-1960EF748D05}"/>
              </a:ext>
            </a:extLst>
          </p:cNvPr>
          <p:cNvSpPr/>
          <p:nvPr/>
        </p:nvSpPr>
        <p:spPr>
          <a:xfrm>
            <a:off x="10911840" y="6400800"/>
            <a:ext cx="822960" cy="274320"/>
          </a:xfrm>
          <a:prstGeom prst="rect">
            <a:avLst/>
          </a:prstGeom>
          <a:noFill/>
          <a:ln/>
        </p:spPr>
        <p:txBody>
          <a:bodyPr wrap="square" lIns="0" tIns="0" rIns="0" bIns="0" rtlCol="0" anchor="ctr"/>
          <a:lstStyle/>
          <a:p>
            <a:pPr marL="0" indent="0" algn="r">
              <a:buNone/>
            </a:pPr>
            <a:fld id="{6F2FAB83-15A9-4446-A83E-37BCA0A0EBC9}" type="slidenum">
              <a:rPr lang="en-US" sz="900" smtClean="0">
                <a:solidFill>
                  <a:srgbClr val="64748B"/>
                </a:solidFill>
                <a:latin typeface="Calibri" pitchFamily="34" charset="0"/>
                <a:ea typeface="Calibri" pitchFamily="34" charset="-122"/>
                <a:cs typeface="Calibri" pitchFamily="34" charset="-120"/>
              </a:rPr>
              <a:t>8</a:t>
            </a:fld>
            <a:r>
              <a:rPr lang="en-US" sz="900" dirty="0">
                <a:solidFill>
                  <a:srgbClr val="64748B"/>
                </a:solidFill>
                <a:latin typeface="Calibri" pitchFamily="34" charset="0"/>
                <a:ea typeface="Calibri" pitchFamily="34" charset="-122"/>
                <a:cs typeface="Calibri" pitchFamily="34" charset="-120"/>
              </a:rPr>
              <a:t> </a:t>
            </a:r>
            <a:endParaRPr lang="en-US" sz="900" dirty="0"/>
          </a:p>
        </p:txBody>
      </p:sp>
    </p:spTree>
    <p:extLst>
      <p:ext uri="{BB962C8B-B14F-4D97-AF65-F5344CB8AC3E}">
        <p14:creationId xmlns:p14="http://schemas.microsoft.com/office/powerpoint/2010/main" val="18473700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232</TotalTime>
  <Words>1069</Words>
  <Application>Microsoft Macintosh PowerPoint</Application>
  <PresentationFormat>Widescreen</PresentationFormat>
  <Paragraphs>144</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TALENS Overview</dc:title>
  <dc:subject>Presentation</dc:subject>
  <dc:creator>TALENS</dc:creator>
  <cp:keywords/>
  <dc:description/>
  <cp:lastModifiedBy>Giacomo Marini</cp:lastModifiedBy>
  <cp:revision>8</cp:revision>
  <dcterms:created xsi:type="dcterms:W3CDTF">2026-05-25T14:42:51Z</dcterms:created>
  <dcterms:modified xsi:type="dcterms:W3CDTF">2026-05-30T15:44:09Z</dcterms:modified>
  <cp:category/>
</cp:coreProperties>
</file>